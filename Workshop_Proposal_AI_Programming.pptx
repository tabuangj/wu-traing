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75" r:id="rId2"/>
    <p:sldId id="273" r:id="rId3"/>
    <p:sldId id="256" r:id="rId4"/>
    <p:sldId id="257" r:id="rId5"/>
    <p:sldId id="258" r:id="rId6"/>
    <p:sldId id="259" r:id="rId7"/>
    <p:sldId id="260" r:id="rId8"/>
    <p:sldId id="261" r:id="rId9"/>
    <p:sldId id="265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E14"/>
    <a:srgbClr val="E8A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10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81A7-D414-324D-FE06-926EF5460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44A21-21EC-1AB2-E4BF-8953A4B24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AE030-7448-430F-3606-6B5D99B8C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C5BF7-FB6E-901B-77F9-F5826175C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6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5AA3A-7DF5-38E0-9D91-B52E41B13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EA2F0-5DCF-CCCE-EBC2-50898B584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B2A9B-435C-1A8C-B45E-79FB26F9E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BCC84-CA08-CC42-CF97-746D41197D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12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1200B-4968-F49B-AC06-488A8E623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7B741-1380-8BEE-FA11-5A9CC635A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458DC-0E09-6152-25B2-03AAC4980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BE948-FD67-6123-06D1-9F038793B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00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7ACD6-5B6C-62CE-969A-66ABDDDB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960B4D-48F3-3B1D-C9A3-C0B73ADF0927}"/>
              </a:ext>
            </a:extLst>
          </p:cNvPr>
          <p:cNvPicPr>
            <a:picLocks/>
          </p:cNvPicPr>
          <p:nvPr/>
        </p:nvPicPr>
        <p:blipFill>
          <a:blip r:embed="rId3"/>
          <a:srcRect l="2478" t="5125" r="6419" b="6869"/>
          <a:stretch>
            <a:fillRect/>
          </a:stretch>
        </p:blipFill>
        <p:spPr>
          <a:xfrm>
            <a:off x="7546906" y="1302985"/>
            <a:ext cx="3657600" cy="3657600"/>
          </a:xfrm>
          <a:custGeom>
            <a:avLst/>
            <a:gdLst>
              <a:gd name="csX0" fmla="*/ 2309091 w 4618182"/>
              <a:gd name="csY0" fmla="*/ 0 h 4461164"/>
              <a:gd name="csX1" fmla="*/ 4618182 w 4618182"/>
              <a:gd name="csY1" fmla="*/ 2230582 h 4461164"/>
              <a:gd name="csX2" fmla="*/ 2309091 w 4618182"/>
              <a:gd name="csY2" fmla="*/ 4461164 h 4461164"/>
              <a:gd name="csX3" fmla="*/ 0 w 4618182"/>
              <a:gd name="csY3" fmla="*/ 2230582 h 4461164"/>
              <a:gd name="csX4" fmla="*/ 2309091 w 4618182"/>
              <a:gd name="csY4" fmla="*/ 0 h 4461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618182" h="4461164">
                <a:moveTo>
                  <a:pt x="2309091" y="0"/>
                </a:moveTo>
                <a:cubicBezTo>
                  <a:pt x="3584367" y="0"/>
                  <a:pt x="4618182" y="998666"/>
                  <a:pt x="4618182" y="2230582"/>
                </a:cubicBezTo>
                <a:cubicBezTo>
                  <a:pt x="4618182" y="3462498"/>
                  <a:pt x="3584367" y="4461164"/>
                  <a:pt x="2309091" y="4461164"/>
                </a:cubicBezTo>
                <a:cubicBezTo>
                  <a:pt x="1033815" y="4461164"/>
                  <a:pt x="0" y="3462498"/>
                  <a:pt x="0" y="2230582"/>
                </a:cubicBezTo>
                <a:cubicBezTo>
                  <a:pt x="0" y="998666"/>
                  <a:pt x="1033815" y="0"/>
                  <a:pt x="2309091" y="0"/>
                </a:cubicBezTo>
                <a:close/>
              </a:path>
            </a:pathLst>
          </a:custGeom>
          <a:ln w="76200">
            <a:solidFill>
              <a:srgbClr val="E8A33D"/>
            </a:solidFill>
          </a:ln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8C6E4F7D-7095-ECBD-F764-F14E786B0D39}"/>
              </a:ext>
            </a:extLst>
          </p:cNvPr>
          <p:cNvGrpSpPr/>
          <p:nvPr/>
        </p:nvGrpSpPr>
        <p:grpSpPr>
          <a:xfrm>
            <a:off x="758305" y="1049909"/>
            <a:ext cx="7680960" cy="3822676"/>
            <a:chOff x="822960" y="457200"/>
            <a:chExt cx="7680960" cy="382267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208483-7B1A-69C1-A4BF-682C233B4F89}"/>
                </a:ext>
              </a:extLst>
            </p:cNvPr>
            <p:cNvGrpSpPr/>
            <p:nvPr/>
          </p:nvGrpSpPr>
          <p:grpSpPr>
            <a:xfrm>
              <a:off x="822960" y="457200"/>
              <a:ext cx="2834640" cy="378229"/>
              <a:chOff x="822960" y="1051560"/>
              <a:chExt cx="2834640" cy="378229"/>
            </a:xfrm>
          </p:grpSpPr>
          <p:sp>
            <p:nvSpPr>
              <p:cNvPr id="14" name="Shape 0">
                <a:extLst>
                  <a:ext uri="{FF2B5EF4-FFF2-40B4-BE49-F238E27FC236}">
                    <a16:creationId xmlns:a16="http://schemas.microsoft.com/office/drawing/2014/main" id="{743E5163-6BCE-56D5-AA4D-DF27823FEA6B}"/>
                  </a:ext>
                </a:extLst>
              </p:cNvPr>
              <p:cNvSpPr/>
              <p:nvPr/>
            </p:nvSpPr>
            <p:spPr>
              <a:xfrm>
                <a:off x="822960" y="1051560"/>
                <a:ext cx="2834640" cy="365760"/>
              </a:xfrm>
              <a:prstGeom prst="roundRect">
                <a:avLst>
                  <a:gd name="adj" fmla="val 50000"/>
                </a:avLst>
              </a:prstGeom>
              <a:solidFill>
                <a:srgbClr val="E8A33D"/>
              </a:solidFill>
              <a:ln w="12700">
                <a:solidFill>
                  <a:srgbClr val="E8A33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394B144F-52D5-F984-8931-CA1F835D12D9}"/>
                  </a:ext>
                </a:extLst>
              </p:cNvPr>
              <p:cNvSpPr/>
              <p:nvPr/>
            </p:nvSpPr>
            <p:spPr>
              <a:xfrm>
                <a:off x="984596" y="1064029"/>
                <a:ext cx="2511367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50" b="1" kern="0" spc="120" dirty="0">
                    <a:solidFill>
                      <a:srgbClr val="0B0E14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WORKSHOP · </a:t>
                </a:r>
                <a:r>
                  <a:rPr lang="en-US" sz="1050" b="1" kern="0" spc="120" dirty="0" err="1">
                    <a:solidFill>
                      <a:srgbClr val="0B0E14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Presentator</a:t>
                </a:r>
                <a:r>
                  <a:rPr lang="en-US" sz="1050" b="1" kern="0" spc="120" dirty="0">
                    <a:solidFill>
                      <a:srgbClr val="0B0E14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</a:t>
                </a:r>
                <a:endParaRPr lang="en-US" sz="1050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6C5EE8A-DB59-17C2-788D-A4C42AE6E701}"/>
                </a:ext>
              </a:extLst>
            </p:cNvPr>
            <p:cNvGrpSpPr/>
            <p:nvPr/>
          </p:nvGrpSpPr>
          <p:grpSpPr>
            <a:xfrm>
              <a:off x="822960" y="469669"/>
              <a:ext cx="7680960" cy="1554480"/>
              <a:chOff x="822960" y="1246909"/>
              <a:chExt cx="7680960" cy="1554480"/>
            </a:xfrm>
          </p:grpSpPr>
          <p:sp>
            <p:nvSpPr>
              <p:cNvPr id="18" name="Text 2">
                <a:extLst>
                  <a:ext uri="{FF2B5EF4-FFF2-40B4-BE49-F238E27FC236}">
                    <a16:creationId xmlns:a16="http://schemas.microsoft.com/office/drawing/2014/main" id="{2A38EF01-C1D9-32C3-2AB0-0D7561F186B7}"/>
                  </a:ext>
                </a:extLst>
              </p:cNvPr>
              <p:cNvSpPr/>
              <p:nvPr/>
            </p:nvSpPr>
            <p:spPr>
              <a:xfrm>
                <a:off x="822960" y="1246909"/>
                <a:ext cx="7680960" cy="1554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3800" b="1" dirty="0">
                    <a:solidFill>
                      <a:srgbClr val="FFFFFF"/>
                    </a:solidFill>
                    <a:latin typeface="Tahoma" pitchFamily="34" charset="0"/>
                    <a:ea typeface="Tahoma" pitchFamily="34" charset="-122"/>
                    <a:cs typeface="Tahoma" pitchFamily="34" charset="-120"/>
                  </a:rPr>
                  <a:t>PECH CHAIMAN</a:t>
                </a:r>
                <a:endParaRPr lang="en-US" sz="3800" dirty="0"/>
              </a:p>
            </p:txBody>
          </p:sp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6217F2B6-B9E1-2327-164F-038739C29843}"/>
                  </a:ext>
                </a:extLst>
              </p:cNvPr>
              <p:cNvSpPr/>
              <p:nvPr/>
            </p:nvSpPr>
            <p:spPr>
              <a:xfrm>
                <a:off x="822960" y="2069869"/>
                <a:ext cx="7498080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500" i="1" dirty="0">
                    <a:solidFill>
                      <a:srgbClr val="C7CCD9"/>
                    </a:solidFill>
                    <a:latin typeface="Tahoma" pitchFamily="34" charset="0"/>
                    <a:ea typeface="Tahoma" pitchFamily="34" charset="-122"/>
                    <a:cs typeface="Tahoma" pitchFamily="34" charset="-120"/>
                  </a:rPr>
                  <a:t>Senior Developer at The Virus Information and Technology</a:t>
                </a:r>
                <a:endParaRPr lang="en-US" sz="1500" dirty="0"/>
              </a:p>
            </p:txBody>
          </p:sp>
        </p:grpSp>
        <p:sp>
          <p:nvSpPr>
            <p:cNvPr id="27" name="Text 3">
              <a:extLst>
                <a:ext uri="{FF2B5EF4-FFF2-40B4-BE49-F238E27FC236}">
                  <a16:creationId xmlns:a16="http://schemas.microsoft.com/office/drawing/2014/main" id="{7F223D7D-FD13-B0D0-94CD-F5D84EB1CBCD}"/>
                </a:ext>
              </a:extLst>
            </p:cNvPr>
            <p:cNvSpPr/>
            <p:nvPr/>
          </p:nvSpPr>
          <p:spPr>
            <a:xfrm>
              <a:off x="822960" y="2412607"/>
              <a:ext cx="74980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500" i="1" dirty="0">
                  <a:solidFill>
                    <a:srgbClr val="C7CCD9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Digital information management (DIM Generation 2) 2017</a:t>
              </a:r>
              <a:endParaRPr lang="en-US" sz="1500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437C980-FA4C-6702-4791-BBAB137F5ED1}"/>
                </a:ext>
              </a:extLst>
            </p:cNvPr>
            <p:cNvGrpSpPr/>
            <p:nvPr/>
          </p:nvGrpSpPr>
          <p:grpSpPr>
            <a:xfrm>
              <a:off x="822960" y="2036618"/>
              <a:ext cx="3200400" cy="396517"/>
              <a:chOff x="822960" y="2036618"/>
              <a:chExt cx="3200400" cy="396517"/>
            </a:xfrm>
          </p:grpSpPr>
          <p:sp>
            <p:nvSpPr>
              <p:cNvPr id="22" name="Shape 4">
                <a:extLst>
                  <a:ext uri="{FF2B5EF4-FFF2-40B4-BE49-F238E27FC236}">
                    <a16:creationId xmlns:a16="http://schemas.microsoft.com/office/drawing/2014/main" id="{3CE6D3E0-0CD8-1B0D-F5FD-6E0023DDE807}"/>
                  </a:ext>
                </a:extLst>
              </p:cNvPr>
              <p:cNvSpPr/>
              <p:nvPr/>
            </p:nvSpPr>
            <p:spPr>
              <a:xfrm>
                <a:off x="822960" y="2036618"/>
                <a:ext cx="320040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0F241F"/>
              </a:solidFill>
              <a:ln w="12700">
                <a:solidFill>
                  <a:srgbClr val="2FB88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 5">
                <a:extLst>
                  <a:ext uri="{FF2B5EF4-FFF2-40B4-BE49-F238E27FC236}">
                    <a16:creationId xmlns:a16="http://schemas.microsoft.com/office/drawing/2014/main" id="{1D066705-B4BE-0209-370F-DC73339DD73F}"/>
                  </a:ext>
                </a:extLst>
              </p:cNvPr>
              <p:cNvSpPr/>
              <p:nvPr/>
            </p:nvSpPr>
            <p:spPr>
              <a:xfrm>
                <a:off x="950422" y="2049087"/>
                <a:ext cx="2945476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50" b="1" kern="0" spc="120" dirty="0">
                    <a:solidFill>
                      <a:srgbClr val="2FB88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Education</a:t>
                </a:r>
                <a:endParaRPr lang="en-US" sz="1050" dirty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4673E7E-34BA-C7F1-83C3-CDD45FDBD358}"/>
                </a:ext>
              </a:extLst>
            </p:cNvPr>
            <p:cNvGrpSpPr/>
            <p:nvPr/>
          </p:nvGrpSpPr>
          <p:grpSpPr>
            <a:xfrm>
              <a:off x="824806" y="3230741"/>
              <a:ext cx="3200400" cy="396517"/>
              <a:chOff x="822960" y="2036618"/>
              <a:chExt cx="3200400" cy="396517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AECA23D2-8051-9635-84FE-CF1012DEEE84}"/>
                  </a:ext>
                </a:extLst>
              </p:cNvPr>
              <p:cNvSpPr/>
              <p:nvPr/>
            </p:nvSpPr>
            <p:spPr>
              <a:xfrm>
                <a:off x="822960" y="2036618"/>
                <a:ext cx="320040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0F241F"/>
              </a:solidFill>
              <a:ln w="12700">
                <a:solidFill>
                  <a:srgbClr val="2FB88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5">
                <a:extLst>
                  <a:ext uri="{FF2B5EF4-FFF2-40B4-BE49-F238E27FC236}">
                    <a16:creationId xmlns:a16="http://schemas.microsoft.com/office/drawing/2014/main" id="{AC2D9ECB-1374-A4D2-F700-C78EEBF70FD0}"/>
                  </a:ext>
                </a:extLst>
              </p:cNvPr>
              <p:cNvSpPr/>
              <p:nvPr/>
            </p:nvSpPr>
            <p:spPr>
              <a:xfrm>
                <a:off x="950422" y="2049087"/>
                <a:ext cx="2945476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50" b="1" kern="0" spc="120" dirty="0">
                    <a:solidFill>
                      <a:srgbClr val="2FB88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Experian</a:t>
                </a:r>
                <a:endParaRPr lang="en-US" sz="1050" dirty="0"/>
              </a:p>
            </p:txBody>
          </p:sp>
        </p:grpSp>
        <p:sp>
          <p:nvSpPr>
            <p:cNvPr id="37" name="Text 3">
              <a:extLst>
                <a:ext uri="{FF2B5EF4-FFF2-40B4-BE49-F238E27FC236}">
                  <a16:creationId xmlns:a16="http://schemas.microsoft.com/office/drawing/2014/main" id="{66ED92BB-7E0A-6F1D-EA92-F31B324C1D61}"/>
                </a:ext>
              </a:extLst>
            </p:cNvPr>
            <p:cNvSpPr/>
            <p:nvPr/>
          </p:nvSpPr>
          <p:spPr>
            <a:xfrm>
              <a:off x="824806" y="3548356"/>
              <a:ext cx="74980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th-TH" sz="1500" dirty="0">
                  <a:solidFill>
                    <a:srgbClr val="C7CCD9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เจ้าพนักงานธุรการ : 2019 - 2024 โรงพยาบาลส่งเสริมสุขภาพตำบลบ้านพรุ</a:t>
              </a:r>
              <a:endParaRPr lang="en-US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14439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BC765-579E-0B33-D6AE-271BFAFB4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F56CFDE3-B787-297B-CC46-2A587AA59EAE}"/>
              </a:ext>
            </a:extLst>
          </p:cNvPr>
          <p:cNvGrpSpPr/>
          <p:nvPr/>
        </p:nvGrpSpPr>
        <p:grpSpPr>
          <a:xfrm>
            <a:off x="758305" y="1049909"/>
            <a:ext cx="7680960" cy="4188436"/>
            <a:chOff x="822960" y="457200"/>
            <a:chExt cx="7680960" cy="418843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5CB9FDB-FA5E-E2B2-FB1A-8F1BFC1BF849}"/>
                </a:ext>
              </a:extLst>
            </p:cNvPr>
            <p:cNvGrpSpPr/>
            <p:nvPr/>
          </p:nvGrpSpPr>
          <p:grpSpPr>
            <a:xfrm>
              <a:off x="822960" y="457200"/>
              <a:ext cx="2834640" cy="378229"/>
              <a:chOff x="822960" y="1051560"/>
              <a:chExt cx="2834640" cy="378229"/>
            </a:xfrm>
          </p:grpSpPr>
          <p:sp>
            <p:nvSpPr>
              <p:cNvPr id="14" name="Shape 0">
                <a:extLst>
                  <a:ext uri="{FF2B5EF4-FFF2-40B4-BE49-F238E27FC236}">
                    <a16:creationId xmlns:a16="http://schemas.microsoft.com/office/drawing/2014/main" id="{E5EA982E-9432-45C9-7868-3D5E7ABCC818}"/>
                  </a:ext>
                </a:extLst>
              </p:cNvPr>
              <p:cNvSpPr/>
              <p:nvPr/>
            </p:nvSpPr>
            <p:spPr>
              <a:xfrm>
                <a:off x="822960" y="1051560"/>
                <a:ext cx="2834640" cy="365760"/>
              </a:xfrm>
              <a:prstGeom prst="roundRect">
                <a:avLst>
                  <a:gd name="adj" fmla="val 50000"/>
                </a:avLst>
              </a:prstGeom>
              <a:solidFill>
                <a:srgbClr val="E8A33D"/>
              </a:solidFill>
              <a:ln w="12700">
                <a:solidFill>
                  <a:srgbClr val="E8A33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A015DD06-21BC-DD87-0A98-F74184685539}"/>
                  </a:ext>
                </a:extLst>
              </p:cNvPr>
              <p:cNvSpPr/>
              <p:nvPr/>
            </p:nvSpPr>
            <p:spPr>
              <a:xfrm>
                <a:off x="984596" y="1064029"/>
                <a:ext cx="2511367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50" b="1" kern="0" spc="120" dirty="0">
                    <a:solidFill>
                      <a:srgbClr val="0B0E14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WORKSHOP · </a:t>
                </a:r>
                <a:r>
                  <a:rPr lang="en-US" sz="1050" b="1" kern="0" spc="120" dirty="0" err="1">
                    <a:solidFill>
                      <a:srgbClr val="0B0E14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Presentator</a:t>
                </a:r>
                <a:r>
                  <a:rPr lang="en-US" sz="1050" b="1" kern="0" spc="120" dirty="0">
                    <a:solidFill>
                      <a:srgbClr val="0B0E14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</a:t>
                </a:r>
                <a:endParaRPr lang="en-US" sz="1050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09FA105-64A6-AFD9-B613-1E40BAFFA51E}"/>
                </a:ext>
              </a:extLst>
            </p:cNvPr>
            <p:cNvGrpSpPr/>
            <p:nvPr/>
          </p:nvGrpSpPr>
          <p:grpSpPr>
            <a:xfrm>
              <a:off x="822960" y="469669"/>
              <a:ext cx="7680960" cy="1554480"/>
              <a:chOff x="822960" y="1246909"/>
              <a:chExt cx="7680960" cy="1554480"/>
            </a:xfrm>
          </p:grpSpPr>
          <p:sp>
            <p:nvSpPr>
              <p:cNvPr id="18" name="Text 2">
                <a:extLst>
                  <a:ext uri="{FF2B5EF4-FFF2-40B4-BE49-F238E27FC236}">
                    <a16:creationId xmlns:a16="http://schemas.microsoft.com/office/drawing/2014/main" id="{53C95C8C-5BD9-7544-15B0-A788C72DAB80}"/>
                  </a:ext>
                </a:extLst>
              </p:cNvPr>
              <p:cNvSpPr/>
              <p:nvPr/>
            </p:nvSpPr>
            <p:spPr>
              <a:xfrm>
                <a:off x="822960" y="1246909"/>
                <a:ext cx="7680960" cy="1554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3800" b="1" dirty="0">
                    <a:solidFill>
                      <a:srgbClr val="FFFFFF"/>
                    </a:solidFill>
                    <a:latin typeface="Tahoma" pitchFamily="34" charset="0"/>
                    <a:ea typeface="Tahoma" pitchFamily="34" charset="-122"/>
                    <a:cs typeface="Tahoma" pitchFamily="34" charset="-120"/>
                  </a:rPr>
                  <a:t>TABUANG JANDAM </a:t>
                </a:r>
                <a:endParaRPr lang="en-US" sz="3800" dirty="0"/>
              </a:p>
            </p:txBody>
          </p:sp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66A3672C-27F1-1D61-3726-CEE5BC006540}"/>
                  </a:ext>
                </a:extLst>
              </p:cNvPr>
              <p:cNvSpPr/>
              <p:nvPr/>
            </p:nvSpPr>
            <p:spPr>
              <a:xfrm>
                <a:off x="822960" y="2069869"/>
                <a:ext cx="7498080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500" i="1" dirty="0">
                    <a:solidFill>
                      <a:srgbClr val="C7CCD9"/>
                    </a:solidFill>
                    <a:latin typeface="Tahoma" pitchFamily="34" charset="0"/>
                    <a:ea typeface="Tahoma" pitchFamily="34" charset="-122"/>
                    <a:cs typeface="Tahoma" pitchFamily="34" charset="-120"/>
                  </a:rPr>
                  <a:t>Technical  Project Manager at Fujitsu Thailand</a:t>
                </a:r>
                <a:endParaRPr lang="en-US" sz="1500" dirty="0"/>
              </a:p>
            </p:txBody>
          </p:sp>
        </p:grpSp>
        <p:sp>
          <p:nvSpPr>
            <p:cNvPr id="27" name="Text 3">
              <a:extLst>
                <a:ext uri="{FF2B5EF4-FFF2-40B4-BE49-F238E27FC236}">
                  <a16:creationId xmlns:a16="http://schemas.microsoft.com/office/drawing/2014/main" id="{8E21B30C-BACB-7591-0091-2CCCBFB75B32}"/>
                </a:ext>
              </a:extLst>
            </p:cNvPr>
            <p:cNvSpPr/>
            <p:nvPr/>
          </p:nvSpPr>
          <p:spPr>
            <a:xfrm>
              <a:off x="822960" y="2412607"/>
              <a:ext cx="74980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500" i="1" dirty="0">
                  <a:solidFill>
                    <a:srgbClr val="C7CCD9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Digital information management (DIM Generation 2) 2017</a:t>
              </a:r>
              <a:endParaRPr lang="en-US" sz="1500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47D8DB3-D9D1-68FE-D2B4-BC5F331C3E06}"/>
                </a:ext>
              </a:extLst>
            </p:cNvPr>
            <p:cNvGrpSpPr/>
            <p:nvPr/>
          </p:nvGrpSpPr>
          <p:grpSpPr>
            <a:xfrm>
              <a:off x="822960" y="2036618"/>
              <a:ext cx="3200400" cy="396517"/>
              <a:chOff x="822960" y="2036618"/>
              <a:chExt cx="3200400" cy="396517"/>
            </a:xfrm>
          </p:grpSpPr>
          <p:sp>
            <p:nvSpPr>
              <p:cNvPr id="22" name="Shape 4">
                <a:extLst>
                  <a:ext uri="{FF2B5EF4-FFF2-40B4-BE49-F238E27FC236}">
                    <a16:creationId xmlns:a16="http://schemas.microsoft.com/office/drawing/2014/main" id="{D7EA1E42-F787-64F7-A686-E56937F015A6}"/>
                  </a:ext>
                </a:extLst>
              </p:cNvPr>
              <p:cNvSpPr/>
              <p:nvPr/>
            </p:nvSpPr>
            <p:spPr>
              <a:xfrm>
                <a:off x="822960" y="2036618"/>
                <a:ext cx="320040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0F241F"/>
              </a:solidFill>
              <a:ln w="12700">
                <a:solidFill>
                  <a:srgbClr val="2FB88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 5">
                <a:extLst>
                  <a:ext uri="{FF2B5EF4-FFF2-40B4-BE49-F238E27FC236}">
                    <a16:creationId xmlns:a16="http://schemas.microsoft.com/office/drawing/2014/main" id="{510128D7-29CA-8630-FC46-022F4645CADA}"/>
                  </a:ext>
                </a:extLst>
              </p:cNvPr>
              <p:cNvSpPr/>
              <p:nvPr/>
            </p:nvSpPr>
            <p:spPr>
              <a:xfrm>
                <a:off x="950422" y="2049087"/>
                <a:ext cx="2945476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50" b="1" kern="0" spc="120" dirty="0">
                    <a:solidFill>
                      <a:srgbClr val="2FB88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Education</a:t>
                </a:r>
                <a:endParaRPr lang="en-US" sz="1050" dirty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45F2EB6-27F5-F7AF-B3AF-AA424D7EFBDC}"/>
                </a:ext>
              </a:extLst>
            </p:cNvPr>
            <p:cNvGrpSpPr/>
            <p:nvPr/>
          </p:nvGrpSpPr>
          <p:grpSpPr>
            <a:xfrm>
              <a:off x="824806" y="3230741"/>
              <a:ext cx="3200400" cy="396517"/>
              <a:chOff x="822960" y="2036618"/>
              <a:chExt cx="3200400" cy="396517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7EA89CC8-E449-4A4A-14B0-40E68773EE40}"/>
                  </a:ext>
                </a:extLst>
              </p:cNvPr>
              <p:cNvSpPr/>
              <p:nvPr/>
            </p:nvSpPr>
            <p:spPr>
              <a:xfrm>
                <a:off x="822960" y="2036618"/>
                <a:ext cx="3200400" cy="384048"/>
              </a:xfrm>
              <a:prstGeom prst="roundRect">
                <a:avLst>
                  <a:gd name="adj" fmla="val 50000"/>
                </a:avLst>
              </a:prstGeom>
              <a:solidFill>
                <a:srgbClr val="0F241F"/>
              </a:solidFill>
              <a:ln w="12700">
                <a:solidFill>
                  <a:srgbClr val="2FB88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5">
                <a:extLst>
                  <a:ext uri="{FF2B5EF4-FFF2-40B4-BE49-F238E27FC236}">
                    <a16:creationId xmlns:a16="http://schemas.microsoft.com/office/drawing/2014/main" id="{BAC2A0A8-1982-AEA4-0AB9-293B3324860E}"/>
                  </a:ext>
                </a:extLst>
              </p:cNvPr>
              <p:cNvSpPr/>
              <p:nvPr/>
            </p:nvSpPr>
            <p:spPr>
              <a:xfrm>
                <a:off x="950422" y="2049087"/>
                <a:ext cx="2945476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50" b="1" kern="0" spc="120" dirty="0">
                    <a:solidFill>
                      <a:srgbClr val="2FB88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Experian</a:t>
                </a:r>
                <a:endParaRPr lang="en-US" sz="1050" dirty="0"/>
              </a:p>
            </p:txBody>
          </p:sp>
        </p:grpSp>
        <p:sp>
          <p:nvSpPr>
            <p:cNvPr id="37" name="Text 3">
              <a:extLst>
                <a:ext uri="{FF2B5EF4-FFF2-40B4-BE49-F238E27FC236}">
                  <a16:creationId xmlns:a16="http://schemas.microsoft.com/office/drawing/2014/main" id="{148B8FC0-79CC-BF62-33B9-D28F53FC05F2}"/>
                </a:ext>
              </a:extLst>
            </p:cNvPr>
            <p:cNvSpPr/>
            <p:nvPr/>
          </p:nvSpPr>
          <p:spPr>
            <a:xfrm>
              <a:off x="824806" y="3548356"/>
              <a:ext cx="74980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500" dirty="0">
                  <a:solidFill>
                    <a:srgbClr val="C7CCD9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Senior Department Manager : </a:t>
              </a:r>
              <a:r>
                <a:rPr lang="th-TH" sz="1500" dirty="0">
                  <a:solidFill>
                    <a:srgbClr val="C7CCD9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ก.ย. 2019 - ก.พ. 2021</a:t>
              </a:r>
              <a:r>
                <a:rPr lang="en-US" sz="1500" dirty="0">
                  <a:solidFill>
                    <a:srgbClr val="C7CCD9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at Central Group</a:t>
              </a:r>
              <a:endParaRPr lang="en-US" sz="1500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787795DF-9BEF-2F4B-A5EA-43AA01DDB611}"/>
                </a:ext>
              </a:extLst>
            </p:cNvPr>
            <p:cNvSpPr/>
            <p:nvPr/>
          </p:nvSpPr>
          <p:spPr>
            <a:xfrm>
              <a:off x="824806" y="3914116"/>
              <a:ext cx="74980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500" dirty="0">
                  <a:solidFill>
                    <a:srgbClr val="C7CCD9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Scrum master : </a:t>
              </a:r>
              <a:r>
                <a:rPr lang="th-TH" sz="1500" dirty="0">
                  <a:solidFill>
                    <a:srgbClr val="C7CCD9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มี.ค. 2021 - ต.ค. 2023</a:t>
              </a:r>
              <a:r>
                <a:rPr lang="en-US" sz="1500" dirty="0">
                  <a:solidFill>
                    <a:srgbClr val="C7CCD9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at  FWD Thailand</a:t>
              </a:r>
              <a:endParaRPr lang="en-US" sz="1500" dirty="0"/>
            </a:p>
          </p:txBody>
        </p:sp>
      </p:grpSp>
      <p:pic>
        <p:nvPicPr>
          <p:cNvPr id="45" name="Picture 44" descr="ไม่มีคำอธิบายรูปภาพ">
            <a:extLst>
              <a:ext uri="{FF2B5EF4-FFF2-40B4-BE49-F238E27FC236}">
                <a16:creationId xmlns:a16="http://schemas.microsoft.com/office/drawing/2014/main" id="{081BC6B7-1DAC-9B7F-F502-C9C5CAB99C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71" t="896" r="15356" b="896"/>
          <a:stretch>
            <a:fillRect/>
          </a:stretch>
        </p:blipFill>
        <p:spPr>
          <a:xfrm>
            <a:off x="7491377" y="1394322"/>
            <a:ext cx="3654389" cy="3654389"/>
          </a:xfrm>
          <a:custGeom>
            <a:avLst/>
            <a:gdLst>
              <a:gd name="csX0" fmla="*/ 2710405 w 5420810"/>
              <a:gd name="csY0" fmla="*/ 0 h 5420810"/>
              <a:gd name="csX1" fmla="*/ 5420810 w 5420810"/>
              <a:gd name="csY1" fmla="*/ 2710405 h 5420810"/>
              <a:gd name="csX2" fmla="*/ 2710405 w 5420810"/>
              <a:gd name="csY2" fmla="*/ 5420810 h 5420810"/>
              <a:gd name="csX3" fmla="*/ 0 w 5420810"/>
              <a:gd name="csY3" fmla="*/ 2710405 h 5420810"/>
              <a:gd name="csX4" fmla="*/ 2710405 w 5420810"/>
              <a:gd name="csY4" fmla="*/ 0 h 5420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420810" h="5420810">
                <a:moveTo>
                  <a:pt x="2710405" y="0"/>
                </a:moveTo>
                <a:cubicBezTo>
                  <a:pt x="4207320" y="0"/>
                  <a:pt x="5420810" y="1213490"/>
                  <a:pt x="5420810" y="2710405"/>
                </a:cubicBezTo>
                <a:cubicBezTo>
                  <a:pt x="5420810" y="4207320"/>
                  <a:pt x="4207320" y="5420810"/>
                  <a:pt x="2710405" y="5420810"/>
                </a:cubicBezTo>
                <a:cubicBezTo>
                  <a:pt x="1213490" y="5420810"/>
                  <a:pt x="0" y="4207320"/>
                  <a:pt x="0" y="2710405"/>
                </a:cubicBezTo>
                <a:cubicBezTo>
                  <a:pt x="0" y="1213490"/>
                  <a:pt x="1213490" y="0"/>
                  <a:pt x="2710405" y="0"/>
                </a:cubicBezTo>
                <a:close/>
              </a:path>
            </a:pathLst>
          </a:custGeom>
          <a:solidFill>
            <a:srgbClr val="E8A33D"/>
          </a:solidFill>
          <a:ln w="76200">
            <a:solidFill>
              <a:srgbClr val="E8A33D"/>
            </a:solidFill>
          </a:ln>
        </p:spPr>
      </p:pic>
    </p:spTree>
    <p:extLst>
      <p:ext uri="{BB962C8B-B14F-4D97-AF65-F5344CB8AC3E}">
        <p14:creationId xmlns:p14="http://schemas.microsoft.com/office/powerpoint/2010/main" val="216028192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· TODAY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Proposal, AI &amp; Programming for Fun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เริ่มต้นเขียนโปรแกรมด้วย Node.js ตั้งแต่ศูนย์ พร้อมเทคนิคการทำ Proposal และใช้ AI Agent ในงานข้อมูล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B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WINDOWS-BASED · MAC NOTES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สำหรับผู้เรียนที่ไม่มีพื้นฐานการเขียนโปรแกรมมาก่อน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49640" y="1828800"/>
            <a:ext cx="2834640" cy="2834640"/>
          </a:xfrm>
          <a:prstGeom prst="ellipse">
            <a:avLst/>
          </a:prstGeom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4964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49640" y="3200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CC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12:20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49640" y="3703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กำหนดการวันนี้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ภาพรวมตาราง 9:15 – 12:20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41924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6479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0" y="1764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9:15 – 10:30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Management &amp; Proposals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71576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การเขียน Proposal (15 นาที) + AI for Information Work: ติดตั้งและใช้งาน Codex (60 นาที)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41924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368503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850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B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0" y="36850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10:30 – 12:10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Programming for Fun (Node.js)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63600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ติดตั้งเครื่องมือ → ตัวแปร → เงื่อนไข → ลูป → ลงมือเขียนโปรแกรมจริง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2428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9:15 – 10:30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Management &amp; Proposals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การเขียน Proposal และการใช้ AI Agent ช่วยทำงานด้านข้อมูล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อธิบายเรื่องการเขียน Proposal (1 / 2)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ตัวอย่างโครงการ: ระบบจัดการข้อมูลบุคลากรในองค์กร (Personnel Information Management System)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นาที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349240" cy="4801514"/>
          </a:xfrm>
          <a:prstGeom prst="roundRect">
            <a:avLst>
              <a:gd name="adj" fmla="val 1524"/>
            </a:avLst>
          </a:prstGeom>
          <a:solidFill>
            <a:srgbClr val="141924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161848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A1519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112264"/>
            <a:ext cx="4800600" cy="562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ข้อมูลบุคลากรกระจัดกระจาย ค้นหาช้า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748280"/>
            <a:ext cx="4800600" cy="104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ปัจจุบันการจัดเก็บข้อมูลบุคลากรขององค์กรอยู่ในรูปแบบเอกสารกระดาษและไฟล์ Excel แยกส่วนตามแผนก ทำให้การค้นหาและปรับปรุงข้อมูลล่าช้า และเสี่ยงต่อความผิดพลาด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66896"/>
            <a:ext cx="4800600" cy="1057046"/>
          </a:xfrm>
          <a:prstGeom prst="roundRect">
            <a:avLst>
              <a:gd name="adj" fmla="val 5190"/>
            </a:avLst>
          </a:prstGeom>
          <a:solidFill>
            <a:srgbClr val="2A1519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7552" y="3958336"/>
            <a:ext cx="4471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🔍  สาเหตุหลัก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4232656"/>
            <a:ext cx="4471416" cy="654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จัดเก็บข้อมูลด้วยกระดาษและไฟล์ Excel แยกตามแผนก ไม่มีศูนย์กลางข้อมูลเดียวที่อัปเดตตรงกัน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5033670"/>
            <a:ext cx="4800600" cy="1057046"/>
          </a:xfrm>
          <a:prstGeom prst="roundRect">
            <a:avLst>
              <a:gd name="adj" fmla="val 5190"/>
            </a:avLst>
          </a:prstGeom>
          <a:solidFill>
            <a:srgbClr val="2A1519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7552" y="5125110"/>
            <a:ext cx="4471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⚠️  ผลกระทบหากไม่แก้ไข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5399430"/>
            <a:ext cx="4471416" cy="654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เสียเวลาค้นหาข้อมูลเฉลี่ยครั้งละ 20-30 นาที และข้อมูลระหว่างแผนกไม่ตรงกัน เสี่ยงต่อการตัดสินใจผิดพลาด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5349240" cy="4801514"/>
          </a:xfrm>
          <a:prstGeom prst="roundRect">
            <a:avLst>
              <a:gd name="adj" fmla="val 1524"/>
            </a:avLst>
          </a:prstGeom>
          <a:solidFill>
            <a:srgbClr val="141924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0" y="1618488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16184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B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 &amp; SCOPE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0" y="2112264"/>
            <a:ext cx="4800600" cy="562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เว็บแอปจัดการข้อมูลบุคลากรแบบรวมศูนย์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2748280"/>
            <a:ext cx="4800600" cy="104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พัฒนาเว็บแอปพลิเคชันสำหรับบันทึก ค้นหา และจัดการข้อมูลบุคลากร (ประวัติส่วนตัว ตำแหน่ง แผนก การลา) ให้เจ้าหน้าที่ฝ่ายบุคคลใช้งานผ่านเบราว์เซอร์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3866896"/>
            <a:ext cx="4800600" cy="1057046"/>
          </a:xfrm>
          <a:prstGeom prst="roundRect">
            <a:avLst>
              <a:gd name="adj" fmla="val 5190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48272" y="3958336"/>
            <a:ext cx="4471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B8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 ขอบเขตที่รวม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48272" y="4232656"/>
            <a:ext cx="4471416" cy="654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ค้นหา และแก้ไขข้อมูลบุคลากร ประวัติส่วนตัว ตำแหน่ง แผนก และการลา ผ่านเว็บเบราว์เซอร์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5033670"/>
            <a:ext cx="4800600" cy="1057046"/>
          </a:xfrm>
          <a:prstGeom prst="roundRect">
            <a:avLst>
              <a:gd name="adj" fmla="val 5190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48272" y="5125110"/>
            <a:ext cx="4471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B8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🚫  ขอบเขตที่ไม่รวม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48272" y="5399430"/>
            <a:ext cx="4471416" cy="654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ระบบเงินเดือนและบัญชี (Payroll) ยังไม่รวมในเฟสนี้ จะพัฒนาต่อในเฟสถัดไปหลังระบบหลักเสถียร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47588" y="3341892"/>
            <a:ext cx="512064" cy="512064"/>
          </a:xfrm>
          <a:prstGeom prst="ellipse">
            <a:avLst/>
          </a:prstGeom>
          <a:solidFill>
            <a:srgbClr val="1A2030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65876" y="331377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อธิบายเรื่องการเขียน Proposal (2 / 2)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แนวทางดำเนินงาน ทรัพยากร และผลลัพธ์ที่คาดว่าจะได้รับ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นาที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141924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APPROACH &amp; TIMELINE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9536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ระยะเวลาดำเนินการรวม 8 สัปดาห์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2423160" cy="1133856"/>
          </a:xfrm>
          <a:prstGeom prst="roundRect">
            <a:avLst>
              <a:gd name="adj" fmla="val 4839"/>
            </a:avLst>
          </a:prstGeom>
          <a:solidFill>
            <a:srgbClr val="1A2030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120" y="22311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2231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768" dirty="0"/>
          </a:p>
        </p:txBody>
      </p:sp>
      <p:sp>
        <p:nvSpPr>
          <p:cNvPr id="14" name="Text 12"/>
          <p:cNvSpPr/>
          <p:nvPr/>
        </p:nvSpPr>
        <p:spPr>
          <a:xfrm>
            <a:off x="960120" y="2596896"/>
            <a:ext cx="2148840" cy="354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ออกแบบฐานข้อมูล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960116"/>
            <a:ext cx="2148840" cy="185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สัปดาห์ 1-2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2103120"/>
            <a:ext cx="27432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20440" y="2103120"/>
            <a:ext cx="2423160" cy="1133856"/>
          </a:xfrm>
          <a:prstGeom prst="roundRect">
            <a:avLst>
              <a:gd name="adj" fmla="val 4839"/>
            </a:avLst>
          </a:prstGeom>
          <a:solidFill>
            <a:srgbClr val="1A2030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0" y="2231136"/>
            <a:ext cx="292608" cy="292608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2231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768" dirty="0"/>
          </a:p>
        </p:txBody>
      </p:sp>
      <p:sp>
        <p:nvSpPr>
          <p:cNvPr id="20" name="Text 18"/>
          <p:cNvSpPr/>
          <p:nvPr/>
        </p:nvSpPr>
        <p:spPr>
          <a:xfrm>
            <a:off x="3657600" y="2596896"/>
            <a:ext cx="2148840" cy="354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พัฒนาระบบ Backend/Frontend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2960116"/>
            <a:ext cx="2148840" cy="185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สัปดาห์ 3-6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2103120"/>
            <a:ext cx="27432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103120"/>
            <a:ext cx="2423160" cy="1133856"/>
          </a:xfrm>
          <a:prstGeom prst="roundRect">
            <a:avLst>
              <a:gd name="adj" fmla="val 4839"/>
            </a:avLst>
          </a:prstGeom>
          <a:solidFill>
            <a:srgbClr val="1A2030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55080" y="22311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2231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768" dirty="0"/>
          </a:p>
        </p:txBody>
      </p:sp>
      <p:sp>
        <p:nvSpPr>
          <p:cNvPr id="26" name="Text 24"/>
          <p:cNvSpPr/>
          <p:nvPr/>
        </p:nvSpPr>
        <p:spPr>
          <a:xfrm>
            <a:off x="6355080" y="2596896"/>
            <a:ext cx="2148840" cy="354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ทดสอบระบบ (QA)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960116"/>
            <a:ext cx="2148840" cy="185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สัปดาห์ 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41080" y="2103120"/>
            <a:ext cx="27432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5400" y="2103120"/>
            <a:ext cx="2423160" cy="1133856"/>
          </a:xfrm>
          <a:prstGeom prst="roundRect">
            <a:avLst>
              <a:gd name="adj" fmla="val 4839"/>
            </a:avLst>
          </a:prstGeom>
          <a:solidFill>
            <a:srgbClr val="1A2030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052560" y="2231136"/>
            <a:ext cx="292608" cy="292608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52560" y="2231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768" dirty="0"/>
          </a:p>
        </p:txBody>
      </p:sp>
      <p:sp>
        <p:nvSpPr>
          <p:cNvPr id="32" name="Text 30"/>
          <p:cNvSpPr/>
          <p:nvPr/>
        </p:nvSpPr>
        <p:spPr>
          <a:xfrm>
            <a:off x="9052560" y="2596896"/>
            <a:ext cx="2148840" cy="3540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อบรมผู้ใช้งาน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52560" y="2960116"/>
            <a:ext cx="2148840" cy="185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สัปดาห์ 8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3630168"/>
            <a:ext cx="5349240" cy="2682850"/>
          </a:xfrm>
          <a:prstGeom prst="roundRect">
            <a:avLst>
              <a:gd name="adj" fmla="val 2727"/>
            </a:avLst>
          </a:prstGeom>
          <a:solidFill>
            <a:srgbClr val="141924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2960" y="3831336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2960" y="38313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&amp; BUDGET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2960" y="4325112"/>
            <a:ext cx="4800600" cy="875081"/>
          </a:xfrm>
          <a:prstGeom prst="roundRect">
            <a:avLst>
              <a:gd name="adj" fmla="val 6270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7552" y="4416552"/>
            <a:ext cx="4471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👥  ทีมพัฒนา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7552" y="4690872"/>
            <a:ext cx="4471416" cy="472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นักพัฒนาระบบ 2 คน และผู้ทดสอบระบบ (QA) 1 คน รวม 3 คน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" y="5309921"/>
            <a:ext cx="4800600" cy="875081"/>
          </a:xfrm>
          <a:prstGeom prst="roundRect">
            <a:avLst>
              <a:gd name="adj" fmla="val 6270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87552" y="5401361"/>
            <a:ext cx="4471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💰  งบประมาณ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87552" y="5675681"/>
            <a:ext cx="4471416" cy="472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งบประมาณโดยประมาณ 150,000 บาท ครอบคลุมการพัฒนาและอบรมผู้ใช้งาน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3630168"/>
            <a:ext cx="5349240" cy="2682850"/>
          </a:xfrm>
          <a:prstGeom prst="roundRect">
            <a:avLst>
              <a:gd name="adj" fmla="val 2727"/>
            </a:avLst>
          </a:prstGeom>
          <a:solidFill>
            <a:srgbClr val="141924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83680" y="3831336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83680" y="38313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B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OUTCOME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583680" y="4325112"/>
            <a:ext cx="4800600" cy="875081"/>
          </a:xfrm>
          <a:prstGeom prst="roundRect">
            <a:avLst>
              <a:gd name="adj" fmla="val 6270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48272" y="4416552"/>
            <a:ext cx="4471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B8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⏱️  ลดเวลาค้นหาข้อมูล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48272" y="4690872"/>
            <a:ext cx="4471416" cy="472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ลดระยะเวลาในการค้นหาข้อมูลบุคลากรลงมากกว่าร้อยละ 70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83680" y="5309921"/>
            <a:ext cx="4800600" cy="875081"/>
          </a:xfrm>
          <a:prstGeom prst="roundRect">
            <a:avLst>
              <a:gd name="adj" fmla="val 6270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748272" y="5401361"/>
            <a:ext cx="4471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B8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📉  ลดความผิดพลาด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48272" y="5675681"/>
            <a:ext cx="4471416" cy="472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ลดความผิดพลาดจากการบันทึกข้อมูลซ้ำซ้อนระหว่างแผนก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for Information Work: รู้จัก Codex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 AI Agent ที่ทำงานผ่าน Command Line เพื่อช่วยงานข้อมูลและเขียนโค้ดอัตโนมัติ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</a:t>
            </a:r>
            <a:r>
              <a:rPr lang="th-TH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นาที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66160" cy="2224786"/>
          </a:xfrm>
          <a:prstGeom prst="roundRect">
            <a:avLst>
              <a:gd name="adj" fmla="val 3288"/>
            </a:avLst>
          </a:prstGeom>
          <a:solidFill>
            <a:srgbClr val="141924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411480" cy="411480"/>
          </a:xfrm>
          <a:prstGeom prst="round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167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คืออะไร (What is Codex)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596896"/>
            <a:ext cx="3017520" cy="999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Codex คือ AI Agent จาก OpenAI ที่ทำงานผ่าน Command Line อ่านคำสั่งภาษาธรรมชาติ แล้วลงมือทำงานให้จริง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566160" cy="2224786"/>
          </a:xfrm>
          <a:prstGeom prst="roundRect">
            <a:avLst>
              <a:gd name="adj" fmla="val 3288"/>
            </a:avLst>
          </a:prstGeom>
          <a:solidFill>
            <a:srgbClr val="141924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645920"/>
            <a:ext cx="411480" cy="411480"/>
          </a:xfrm>
          <a:prstGeom prst="round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2167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ทำงานอย่างไร (How it works)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17720" y="2596896"/>
            <a:ext cx="3017520" cy="999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พิมพ์คำสั่งใน Command Prompt แล้ว Codex จะวางแผน เสนอวิธีทำ และรอการอนุมัติก่อนแก้ไขไฟล์จริงทุกครั้ง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566160" cy="2224786"/>
          </a:xfrm>
          <a:prstGeom prst="roundRect">
            <a:avLst>
              <a:gd name="adj" fmla="val 3288"/>
            </a:avLst>
          </a:prstGeom>
          <a:solidFill>
            <a:srgbClr val="141924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0" y="1645920"/>
            <a:ext cx="411480" cy="411480"/>
          </a:xfrm>
          <a:prstGeom prst="roundRect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21671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ใช้ทำอะไรได้บ้าง (Use cases)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0" y="2596896"/>
            <a:ext cx="3017520" cy="999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สรุปไฟล์ข้อมูล จัดระเบียบข้อมูล สร้างสคริปต์ช่วยงาน หรือเขียนโค้ดเบื้องต้นให้อัตโนมัติ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87070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ภาพรวมช่วงนี้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36466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A2030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" y="4373626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37362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16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816" dirty="0"/>
          </a:p>
        </p:txBody>
      </p:sp>
      <p:sp>
        <p:nvSpPr>
          <p:cNvPr id="23" name="Text 21"/>
          <p:cNvSpPr/>
          <p:nvPr/>
        </p:nvSpPr>
        <p:spPr>
          <a:xfrm>
            <a:off x="685800" y="474853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 Codex ผ่าน npm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63240" y="4236466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383280" y="4236466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A2030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520440" y="4373626"/>
            <a:ext cx="310896" cy="310896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0440" y="437362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16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816" dirty="0"/>
          </a:p>
        </p:txBody>
      </p:sp>
      <p:sp>
        <p:nvSpPr>
          <p:cNvPr id="28" name="Text 26"/>
          <p:cNvSpPr/>
          <p:nvPr/>
        </p:nvSpPr>
        <p:spPr>
          <a:xfrm>
            <a:off x="3520440" y="474853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เข้าสู่ระบบด้วยบัญชี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97880" y="4236466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217920" y="4236466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A2030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55080" y="4373626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5080" y="437362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16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816" dirty="0"/>
          </a:p>
        </p:txBody>
      </p:sp>
      <p:sp>
        <p:nvSpPr>
          <p:cNvPr id="33" name="Text 31"/>
          <p:cNvSpPr/>
          <p:nvPr/>
        </p:nvSpPr>
        <p:spPr>
          <a:xfrm>
            <a:off x="6355080" y="474853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ทดลองสั่งงานผ่าน CMD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732520" y="4236466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052560" y="4236466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A2030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189720" y="4373626"/>
            <a:ext cx="310896" cy="310896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89720" y="437362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16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816" dirty="0"/>
          </a:p>
        </p:txBody>
      </p:sp>
      <p:sp>
        <p:nvSpPr>
          <p:cNvPr id="38" name="Text 36"/>
          <p:cNvSpPr/>
          <p:nvPr/>
        </p:nvSpPr>
        <p:spPr>
          <a:xfrm>
            <a:off x="9189720" y="474853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นำไปใช้กับงานข้อมูลจริง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288026"/>
            <a:ext cx="11064240" cy="1246377"/>
          </a:xfrm>
          <a:prstGeom prst="roundRect">
            <a:avLst>
              <a:gd name="adj" fmla="val 6270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3232" y="5379466"/>
            <a:ext cx="10735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📌  หมายเหตุ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3232" y="5653786"/>
            <a:ext cx="10735056" cy="472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ขั้นตอนนี้ต้องมี Node.js ติดตั้งอยู่ในเครื่องก่อน Download Node </a:t>
            </a:r>
            <a:r>
              <a:rPr lang="th-TH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โดย </a:t>
            </a: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Scan QR Code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C64AF87-3659-7D4F-476D-A57C3E302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173" y="5384685"/>
            <a:ext cx="1060115" cy="106620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Download and Installation Node.js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นาที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ขั้นตอนที่ 1 / 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12" dirty="0"/>
          </a:p>
        </p:txBody>
      </p:sp>
      <p:sp>
        <p:nvSpPr>
          <p:cNvPr id="9" name="Text 7"/>
          <p:cNvSpPr/>
          <p:nvPr/>
        </p:nvSpPr>
        <p:spPr>
          <a:xfrm>
            <a:off x="1005840" y="172821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เปิดเบราว์เซอร์ แล้วเข้าเว็บไซต์ nodejs.org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85085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8508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12" dirty="0"/>
          </a:p>
        </p:txBody>
      </p:sp>
      <p:sp>
        <p:nvSpPr>
          <p:cNvPr id="12" name="Text 10"/>
          <p:cNvSpPr/>
          <p:nvPr/>
        </p:nvSpPr>
        <p:spPr>
          <a:xfrm>
            <a:off x="1005840" y="2530221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หน้าเว็บจะมีปุ่มดาวน์โหลด 2 ปุ่ม — ให้เลือกเวอร์ชัน LTS (Long Term Support) เพราะเสถียรที่สุด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709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38709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12" dirty="0"/>
          </a:p>
        </p:txBody>
      </p:sp>
      <p:sp>
        <p:nvSpPr>
          <p:cNvPr id="15" name="Text 13"/>
          <p:cNvSpPr/>
          <p:nvPr/>
        </p:nvSpPr>
        <p:spPr>
          <a:xfrm>
            <a:off x="1005840" y="333222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คลิกปุ่มดาวน์โหลด ระบบจะได้ไฟล์ติดตั้งนามสกุล .msi (สำหรับ Windows)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89095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18909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12" dirty="0"/>
          </a:p>
        </p:txBody>
      </p:sp>
      <p:sp>
        <p:nvSpPr>
          <p:cNvPr id="18" name="Text 16"/>
          <p:cNvSpPr/>
          <p:nvPr/>
        </p:nvSpPr>
        <p:spPr>
          <a:xfrm>
            <a:off x="1005840" y="4134231"/>
            <a:ext cx="4892040" cy="549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ดับเบิลคลิกไฟล์ที่ดาวน์โหลดมา เพื่อเริ่มการติดตั้ง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1783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12" dirty="0"/>
          </a:p>
        </p:txBody>
      </p:sp>
      <p:sp>
        <p:nvSpPr>
          <p:cNvPr id="21" name="Text 19"/>
          <p:cNvSpPr/>
          <p:nvPr/>
        </p:nvSpPr>
        <p:spPr>
          <a:xfrm>
            <a:off x="6720840" y="172821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Next ไปเรื่อยๆ ตามค่าเริ่มต้น (Default) โดยไม่ต้องแก้ไขอะไร แล้วกด Install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2585085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640" y="258508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12" dirty="0"/>
          </a:p>
        </p:txBody>
      </p:sp>
      <p:sp>
        <p:nvSpPr>
          <p:cNvPr id="24" name="Text 22"/>
          <p:cNvSpPr/>
          <p:nvPr/>
        </p:nvSpPr>
        <p:spPr>
          <a:xfrm>
            <a:off x="6720840" y="2530221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รอจนติดตั้งเสร็จ แล้วกด Finish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38709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338709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12" dirty="0"/>
          </a:p>
        </p:txBody>
      </p:sp>
      <p:sp>
        <p:nvSpPr>
          <p:cNvPr id="27" name="Text 25"/>
          <p:cNvSpPr/>
          <p:nvPr/>
        </p:nvSpPr>
        <p:spPr>
          <a:xfrm>
            <a:off x="6720840" y="333222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เปิดโปรแกรม Command Prompt (พิมพ์ cmd ในช่องค้นหา Windows) แล้วพิมพ์ node -v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4189095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63640" y="418909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12" dirty="0"/>
          </a:p>
        </p:txBody>
      </p:sp>
      <p:sp>
        <p:nvSpPr>
          <p:cNvPr id="30" name="Text 28"/>
          <p:cNvSpPr/>
          <p:nvPr/>
        </p:nvSpPr>
        <p:spPr>
          <a:xfrm>
            <a:off x="6720840" y="4134231"/>
            <a:ext cx="4892040" cy="549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ถ้าขึ้นเลขเวอร์ชัน เช่น v20.x.x แสดงว่าติดตั้งสำเร็จแล้ว!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894453"/>
            <a:ext cx="5349240" cy="1420063"/>
          </a:xfrm>
          <a:prstGeom prst="roundRect">
            <a:avLst>
              <a:gd name="adj" fmla="val 3863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3232" y="4985893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B8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🍎  Mac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" y="5260213"/>
            <a:ext cx="5020056" cy="10177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ดาวน์โหลดไฟล์ .pkg จากเว็บเดียวกัน ดับเบิลคลิกแล้วกด Continue ไปเรื่อยๆ หรือใช้คำสั่ง brew install node ผ่าน Terminal ก็ได้ จากนั้นตรวจสอบด้วย node -v ใน Terminal เช่นกัน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824508B-9773-C56D-2027-AABC9A34E420}"/>
              </a:ext>
            </a:extLst>
          </p:cNvPr>
          <p:cNvGrpSpPr/>
          <p:nvPr/>
        </p:nvGrpSpPr>
        <p:grpSpPr>
          <a:xfrm>
            <a:off x="6263640" y="4894452"/>
            <a:ext cx="3840480" cy="1420063"/>
            <a:chOff x="6263640" y="4894452"/>
            <a:chExt cx="3840480" cy="1420063"/>
          </a:xfrm>
        </p:grpSpPr>
        <p:sp>
          <p:nvSpPr>
            <p:cNvPr id="34" name="Shape 32"/>
            <p:cNvSpPr/>
            <p:nvPr/>
          </p:nvSpPr>
          <p:spPr>
            <a:xfrm>
              <a:off x="6263640" y="4894452"/>
              <a:ext cx="3840480" cy="1420063"/>
            </a:xfrm>
            <a:prstGeom prst="roundRect">
              <a:avLst>
                <a:gd name="adj" fmla="val 4431"/>
              </a:avLst>
            </a:prstGeom>
            <a:solidFill>
              <a:srgbClr val="2A2013"/>
            </a:solidFill>
            <a:ln w="12700">
              <a:solidFill>
                <a:srgbClr val="E8A3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6428232" y="4985893"/>
              <a:ext cx="357841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8A33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💡  Scan QR Code </a:t>
              </a:r>
              <a:r>
                <a:rPr lang="th-TH" sz="1200" b="1" dirty="0">
                  <a:solidFill>
                    <a:srgbClr val="E8A33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สำหรับเข้า</a:t>
              </a:r>
              <a:r>
                <a:rPr lang="en-US" sz="1200" b="1" dirty="0">
                  <a:solidFill>
                    <a:srgbClr val="E8A33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Link</a:t>
              </a:r>
              <a:r>
                <a:rPr lang="th-TH" sz="1200" b="1" dirty="0">
                  <a:solidFill>
                    <a:srgbClr val="E8A33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</a:t>
              </a:r>
              <a:r>
                <a:rPr lang="en-US" sz="1200" b="1" dirty="0">
                  <a:solidFill>
                    <a:srgbClr val="E8A33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Download</a:t>
              </a:r>
              <a:endParaRPr lang="en-US" sz="1200" dirty="0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E0193A4-5560-4E93-68AE-27D743F59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19771" y="5302299"/>
              <a:ext cx="928218" cy="93355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Download and Installation Codex (AI Agent CLI)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นาที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 Setup 1 /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12" dirty="0"/>
          </a:p>
        </p:txBody>
      </p:sp>
      <p:sp>
        <p:nvSpPr>
          <p:cNvPr id="9" name="Text 7"/>
          <p:cNvSpPr/>
          <p:nvPr/>
        </p:nvSpPr>
        <p:spPr>
          <a:xfrm>
            <a:off x="1005840" y="172821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Command Prompt (cmd) แล้วตรวจสอบว่ามี Node.js อยู่แล้วด้วยคำสั่ง node -v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85085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8508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12" dirty="0"/>
          </a:p>
        </p:txBody>
      </p:sp>
      <p:sp>
        <p:nvSpPr>
          <p:cNvPr id="12" name="Text 10"/>
          <p:cNvSpPr/>
          <p:nvPr/>
        </p:nvSpPr>
        <p:spPr>
          <a:xfrm>
            <a:off x="1005840" y="2530221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พิมพ์คำสั่ง npm install -g @openai/codex แล้วกด Enter เพื่อติดตั้ง Codex CLI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709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38709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12" dirty="0"/>
          </a:p>
        </p:txBody>
      </p:sp>
      <p:sp>
        <p:nvSpPr>
          <p:cNvPr id="15" name="Text 13"/>
          <p:cNvSpPr/>
          <p:nvPr/>
        </p:nvSpPr>
        <p:spPr>
          <a:xfrm>
            <a:off x="1005840" y="333222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รอจนติดตั้งเสร็จ แล้วพิมพ์ codex --version เพื่อตรวจสอบเวอร์ชันที่ติดตั้ง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12" dirty="0"/>
          </a:p>
        </p:txBody>
      </p:sp>
      <p:sp>
        <p:nvSpPr>
          <p:cNvPr id="18" name="Text 16"/>
          <p:cNvSpPr/>
          <p:nvPr/>
        </p:nvSpPr>
        <p:spPr>
          <a:xfrm>
            <a:off x="6720840" y="172821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พิมพ์คำสั่ง codex เพื่อเริ่มใช้งานครั้งแรก ระบบจะให้เข้าสู่ระบบ (Login)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585085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258508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12" dirty="0"/>
          </a:p>
        </p:txBody>
      </p:sp>
      <p:sp>
        <p:nvSpPr>
          <p:cNvPr id="21" name="Text 19"/>
          <p:cNvSpPr/>
          <p:nvPr/>
        </p:nvSpPr>
        <p:spPr>
          <a:xfrm>
            <a:off x="6720840" y="2530221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เลือกเข้าสู่ระบบด้วยบัญชี ChatGPT แล้วทำตามขั้นตอนในเบราว์เซอร์ที่เปิดขึ้นมา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387090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640" y="338709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12" dirty="0"/>
          </a:p>
        </p:txBody>
      </p:sp>
      <p:sp>
        <p:nvSpPr>
          <p:cNvPr id="24" name="Text 22"/>
          <p:cNvSpPr/>
          <p:nvPr/>
        </p:nvSpPr>
        <p:spPr>
          <a:xfrm>
            <a:off x="6720840" y="333222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เมื่อเข้าสู่ระบบสำเร็จ กลับมาที่ Command Prompt จะพร้อมใช้งาน Codex ได้ทันที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298823"/>
            <a:ext cx="5349240" cy="1420063"/>
          </a:xfrm>
          <a:prstGeom prst="roundRect">
            <a:avLst>
              <a:gd name="adj" fmla="val 3863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4390263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B8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🍎  Mac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4664583"/>
            <a:ext cx="5020056" cy="10177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Terminal แล้วใช้คำสั่งชุดเดียวกันได้ทุกคำสั่ง (npm install -g @openai/codex, codex --version, codex) เพราะ Codex CLI รองรับ Mac ในรูปแบบเดียวกับ Windows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4298823"/>
            <a:ext cx="5349240" cy="1238098"/>
          </a:xfrm>
          <a:prstGeom prst="roundRect">
            <a:avLst>
              <a:gd name="adj" fmla="val 4431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28232" y="4390263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 เคล็ดลับ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28232" y="4664583"/>
            <a:ext cx="5020056" cy="8357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ถ้าเจอ error เกี่ยวกับสิทธิ์การติดตั้ง (permission) ให้เปิด Command Prompt แบบ Run as Administrator แล้วลองใหม่อีกครั้ง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การใช้งาน Codex ผ่าน CMD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นาที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 Setup 2 /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35915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1284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พิมพ์คำสั่ง codex ใน Command Prompt เพื่อเริ่ม Session </a:t>
            </a:r>
            <a:br>
              <a:rPr lang="th-TH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en-US" sz="1250" dirty="0" err="1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สนทนากับ</a:t>
            </a: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AI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13639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99008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สั่งงานด้วยประโยคภาษาธรรมชาติได้ทันที โดยไม่ต้องเขียนโค้ดเอง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91363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76732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Codex จะวางแผนและเสนอสิ่งที่จะทำ ก่อนลงมือแก้ไขไฟล์จริงทุกครั้ง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54456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เหมาะกับงานข้อมูล เช่น สรุปไฟล์ จัดระเบียบข้อมูล หรือสร้างสคริปต์ช่วยงาน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32120" y="1828800"/>
            <a:ext cx="608076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0720" y="2011680"/>
            <a:ext cx="146304" cy="146304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201168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146304" cy="146304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Prompt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2377440"/>
            <a:ext cx="5577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C:\Users\student&gt; codex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Codex&gt; สรุปเนื้อหาไฟล์ report.txt ให้หน่อย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Codex&gt; สร้างไฟล์ summary.csv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จากข้อมูลใน data.xlsx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Codex&gt; เขียนสคริปต์เช็คไฟล์ซ้ำ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ในโฟลเดอร์นี้ให้หน่อย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11064240" cy="694030"/>
          </a:xfrm>
          <a:prstGeom prst="roundRect">
            <a:avLst>
              <a:gd name="adj" fmla="val 7905"/>
            </a:avLst>
          </a:prstGeom>
          <a:solidFill>
            <a:srgbClr val="2A1519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5669280"/>
            <a:ext cx="10735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⚠️  ข้อควรระวัง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5943600"/>
            <a:ext cx="10735056" cy="291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ตรวจทานผลลัพธ์ที่ Codex สร้างทุกครั้งก่อนนำไปใช้จริง — AI อาจให้ข้อมูลผิดพลาดได้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2428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FB88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10:30 – 12:10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Programming for Fun (Node.js)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ลงมือเขียนโปรแกรมจริงตั้งแต่ติดตั้งเครื่องมือจนได้โปรแกรมของตัวเอง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IDE Installation (VS Code) + Extension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นาที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ขั้นตอนที่ 2 / 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12" dirty="0"/>
          </a:p>
        </p:txBody>
      </p:sp>
      <p:sp>
        <p:nvSpPr>
          <p:cNvPr id="9" name="Text 7"/>
          <p:cNvSpPr/>
          <p:nvPr/>
        </p:nvSpPr>
        <p:spPr>
          <a:xfrm>
            <a:off x="1005840" y="1728216"/>
            <a:ext cx="4892040" cy="549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เข้าเว็บไซต์ code.visualstudio.com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78710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37871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12" dirty="0"/>
          </a:p>
        </p:txBody>
      </p:sp>
      <p:sp>
        <p:nvSpPr>
          <p:cNvPr id="12" name="Text 10"/>
          <p:cNvSpPr/>
          <p:nvPr/>
        </p:nvSpPr>
        <p:spPr>
          <a:xfrm>
            <a:off x="1005840" y="232384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คลิกปุ่มดาวน์โหลดสีน้ำเงินตรงกลางหน้าจอ (ระบบจะเลือกเวอร์ชันให้ตรงกับเครื่องอัตโนมัติ)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80715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18071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12" dirty="0"/>
          </a:p>
        </p:txBody>
      </p:sp>
      <p:sp>
        <p:nvSpPr>
          <p:cNvPr id="15" name="Text 13"/>
          <p:cNvSpPr/>
          <p:nvPr/>
        </p:nvSpPr>
        <p:spPr>
          <a:xfrm>
            <a:off x="1005840" y="3125851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เปิดไฟล์ที่ดาวน์โหลดมา แล้วกด Next / I Agree ไปเรื่อยๆ จนถึงปุ่ม Install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82720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982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12" dirty="0"/>
          </a:p>
        </p:txBody>
      </p:sp>
      <p:sp>
        <p:nvSpPr>
          <p:cNvPr id="18" name="Text 16"/>
          <p:cNvSpPr/>
          <p:nvPr/>
        </p:nvSpPr>
        <p:spPr>
          <a:xfrm>
            <a:off x="1005840" y="3927856"/>
            <a:ext cx="4892040" cy="549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เปิดโปรแกรม VS Code ขึ้นมาหลังติดตั้งเสร็จ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1783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12" dirty="0"/>
          </a:p>
        </p:txBody>
      </p:sp>
      <p:sp>
        <p:nvSpPr>
          <p:cNvPr id="21" name="Text 19"/>
          <p:cNvSpPr/>
          <p:nvPr/>
        </p:nvSpPr>
        <p:spPr>
          <a:xfrm>
            <a:off x="6720840" y="1728216"/>
            <a:ext cx="4892040" cy="549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คลิกไอคอน Extensions ทางแถบซ้าย (รูปสี่เหลี่ยมต่อกัน 4 ชิ้น)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2378710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640" y="237871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12" dirty="0"/>
          </a:p>
        </p:txBody>
      </p:sp>
      <p:sp>
        <p:nvSpPr>
          <p:cNvPr id="24" name="Text 22"/>
          <p:cNvSpPr/>
          <p:nvPr/>
        </p:nvSpPr>
        <p:spPr>
          <a:xfrm>
            <a:off x="6720840" y="232384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พิมพ์ค้นหา "JavaScript (ES6) code snippets" แล้วกด Install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180715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318071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12" dirty="0"/>
          </a:p>
        </p:txBody>
      </p:sp>
      <p:sp>
        <p:nvSpPr>
          <p:cNvPr id="27" name="Text 25"/>
          <p:cNvSpPr/>
          <p:nvPr/>
        </p:nvSpPr>
        <p:spPr>
          <a:xfrm>
            <a:off x="6720840" y="3125851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ค้นหาและติดตั้งเพิ่มอีกตัว: "Code Runner" (ใช้กดรันโค้ดได้ทันทีโดยไม่ต้องพิมพ์คำสั่ง)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88077"/>
            <a:ext cx="5349240" cy="1450211"/>
          </a:xfrm>
          <a:prstGeom prst="roundRect">
            <a:avLst>
              <a:gd name="adj" fmla="val 5190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477951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B8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🍎  Mac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5053838"/>
            <a:ext cx="5020056" cy="654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ขั้นตอนเหมือนกันทุกอย่าง เพียงดาวน์โหลดไฟล์ .zip แทน .exe แล้วลาก VS Code ไปไว้ในโฟลเดอร์ Applications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7C02643-6588-DC46-7864-CAF1A80F6AAD}"/>
              </a:ext>
            </a:extLst>
          </p:cNvPr>
          <p:cNvGrpSpPr/>
          <p:nvPr/>
        </p:nvGrpSpPr>
        <p:grpSpPr>
          <a:xfrm>
            <a:off x="6263640" y="4688078"/>
            <a:ext cx="3725749" cy="1450211"/>
            <a:chOff x="6263640" y="4688077"/>
            <a:chExt cx="3725749" cy="1450211"/>
          </a:xfrm>
        </p:grpSpPr>
        <p:sp>
          <p:nvSpPr>
            <p:cNvPr id="31" name="Shape 29"/>
            <p:cNvSpPr/>
            <p:nvPr/>
          </p:nvSpPr>
          <p:spPr>
            <a:xfrm>
              <a:off x="6263640" y="4688077"/>
              <a:ext cx="3725749" cy="1450211"/>
            </a:xfrm>
            <a:prstGeom prst="roundRect">
              <a:avLst>
                <a:gd name="adj" fmla="val 5190"/>
              </a:avLst>
            </a:prstGeom>
            <a:solidFill>
              <a:srgbClr val="2A2013"/>
            </a:solidFill>
            <a:ln w="12700">
              <a:solidFill>
                <a:srgbClr val="E8A33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6428232" y="4779518"/>
              <a:ext cx="3474893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E8A33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💡 Scan QR Code </a:t>
              </a:r>
              <a:r>
                <a:rPr lang="th-TH" sz="1200" b="1" dirty="0">
                  <a:solidFill>
                    <a:srgbClr val="E8A33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สำหรับเข้า</a:t>
              </a:r>
              <a:r>
                <a:rPr lang="en-US" sz="1200" b="1" dirty="0">
                  <a:solidFill>
                    <a:srgbClr val="E8A33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Link</a:t>
              </a:r>
              <a:r>
                <a:rPr lang="th-TH" sz="1200" b="1" dirty="0">
                  <a:solidFill>
                    <a:srgbClr val="E8A33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</a:t>
              </a:r>
              <a:r>
                <a:rPr lang="en-US" sz="1200" b="1" dirty="0">
                  <a:solidFill>
                    <a:srgbClr val="E8A33D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Download</a:t>
              </a:r>
              <a:endParaRPr lang="en-US" sz="1200" dirty="0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42DC85D-9184-0027-E16A-C7CAD04A6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2448" y="5072573"/>
              <a:ext cx="1008132" cy="97395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APIDog Installation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นาที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ขั้นตอนที่ 3 / 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12" dirty="0"/>
          </a:p>
        </p:txBody>
      </p:sp>
      <p:sp>
        <p:nvSpPr>
          <p:cNvPr id="9" name="Text 7"/>
          <p:cNvSpPr/>
          <p:nvPr/>
        </p:nvSpPr>
        <p:spPr>
          <a:xfrm>
            <a:off x="1005840" y="172821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เข้าเว็บไซต์ apidog.com แล้วคลิกปุ่ม Download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85085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8508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12" dirty="0"/>
          </a:p>
        </p:txBody>
      </p:sp>
      <p:sp>
        <p:nvSpPr>
          <p:cNvPr id="12" name="Text 10"/>
          <p:cNvSpPr/>
          <p:nvPr/>
        </p:nvSpPr>
        <p:spPr>
          <a:xfrm>
            <a:off x="1005840" y="2530221"/>
            <a:ext cx="4892040" cy="549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เลือกเวอร์ชันสำหรับ Windows (ระบบจะดาวน์โหลดไฟล์ .exe)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80715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18071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12" dirty="0"/>
          </a:p>
        </p:txBody>
      </p:sp>
      <p:sp>
        <p:nvSpPr>
          <p:cNvPr id="15" name="Text 13"/>
          <p:cNvSpPr/>
          <p:nvPr/>
        </p:nvSpPr>
        <p:spPr>
          <a:xfrm>
            <a:off x="1005840" y="3125851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เปิดไฟล์ติดตั้ง แล้วกด Next / Install ตามค่าเริ่มต้น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12" dirty="0"/>
          </a:p>
        </p:txBody>
      </p:sp>
      <p:sp>
        <p:nvSpPr>
          <p:cNvPr id="18" name="Text 16"/>
          <p:cNvSpPr/>
          <p:nvPr/>
        </p:nvSpPr>
        <p:spPr>
          <a:xfrm>
            <a:off x="6720840" y="1728216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เปิดโปรแกรม APIDog แล้วสมัครสมาชิกฟรี หรือ Skip เพื่อใช้งานแบบไม่ล็อกอิน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585085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258508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12" dirty="0"/>
          </a:p>
        </p:txBody>
      </p:sp>
      <p:sp>
        <p:nvSpPr>
          <p:cNvPr id="21" name="Text 19"/>
          <p:cNvSpPr/>
          <p:nvPr/>
        </p:nvSpPr>
        <p:spPr>
          <a:xfrm>
            <a:off x="6720840" y="2530221"/>
            <a:ext cx="4892040" cy="549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ลองสร้าง Project ใหม่ (New Project) เพื่อทำความคุ้นเคยกับหน้าจอ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180715"/>
            <a:ext cx="347472" cy="347472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640" y="318071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12" dirty="0"/>
          </a:p>
        </p:txBody>
      </p:sp>
      <p:sp>
        <p:nvSpPr>
          <p:cNvPr id="24" name="Text 22"/>
          <p:cNvSpPr/>
          <p:nvPr/>
        </p:nvSpPr>
        <p:spPr>
          <a:xfrm>
            <a:off x="6720840" y="3125851"/>
            <a:ext cx="4892040" cy="756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APIDog คือเครื่องมือช่วยทดสอบ API — เราจะใช้มันดูผลลัพธ์การรันโค้ดของเราในขั้นตอนถัดไป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092447"/>
            <a:ext cx="5349240" cy="2045843"/>
          </a:xfrm>
          <a:prstGeom prst="roundRect">
            <a:avLst>
              <a:gd name="adj" fmla="val 4431"/>
            </a:avLst>
          </a:prstGeom>
          <a:solidFill>
            <a:srgbClr val="0F241F"/>
          </a:solidFill>
          <a:ln w="12700">
            <a:solidFill>
              <a:srgbClr val="2FB8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418388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B88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🍎  Mac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4458208"/>
            <a:ext cx="5020056" cy="8357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ดาวน์โหลดไฟล์ .dmg จากเว็บเดียวกัน ดับเบิลคลิก แล้วลากไอคอน APIDog ไปไว้ในโฟลเดอร์ Applications เหมือนโปรแกรม Mac ทั่วไป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4092448"/>
            <a:ext cx="3840480" cy="2045843"/>
          </a:xfrm>
          <a:prstGeom prst="roundRect">
            <a:avLst>
              <a:gd name="adj" fmla="val 6270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28232" y="4183888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Scan QR Code </a:t>
            </a:r>
            <a:r>
              <a:rPr lang="th-TH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สำหรับเข้า</a:t>
            </a: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Link</a:t>
            </a:r>
            <a:r>
              <a:rPr lang="th-TH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Download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CC20AA6-11D6-7573-57A4-66DA0D44D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483" y="4528725"/>
            <a:ext cx="1222174" cy="117328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Variable (ตัวแปร)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นาที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ขั้นตอนที่ 4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13969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ตัวแปร คือ "กล่องเก็บข้อมูล" ที่มีชื่อ ให้เราเรียกใช้ค่านั้นซ้ำได้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85292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70662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 Node.js ใช้คำว่า let หรือ const นำหน้าชื่อตัวแปร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419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2735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let ใช้กับค่าที่เปลี่ยนแปลงได้ / const ใช้กับค่าที่คงที่ไม่เปลี่ยน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9867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8404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ข้อมูลมีหลายชนิด เช่น ตัวเลข (Number) และข้อความ (String)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32120" y="1828800"/>
            <a:ext cx="6080760" cy="3383280"/>
          </a:xfrm>
          <a:prstGeom prst="roundRect">
            <a:avLst>
              <a:gd name="adj" fmla="val 2162"/>
            </a:avLst>
          </a:prstGeom>
          <a:solidFill>
            <a:srgbClr val="0D1117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0720" y="2011680"/>
            <a:ext cx="146304" cy="146304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201168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146304" cy="146304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2377440"/>
            <a:ext cx="55778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"Nampueng";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12;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7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school = "บ้านสวน";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console.log(name);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console.log(age);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console.log(school);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64240" cy="694030"/>
          </a:xfrm>
          <a:prstGeom prst="roundRect">
            <a:avLst>
              <a:gd name="adj" fmla="val 7905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5577840"/>
            <a:ext cx="10735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 เคล็ดลับ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5852160"/>
            <a:ext cx="10735056" cy="291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ลองเปลี่ยนชื่อในตัวแปร name เป็นชื่อของตัวเอง แล้วรันดูผลลัพธ์!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วิธีรัน: บันทึกไฟล์ แล้วพิมพ์ node index.js ใน Terminal ของ VS Code (หรือกด ▶ ปุ่ม Code Runner)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Comparison Operations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นาที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ขั้นตอนที่ 5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13969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ตัวดำเนินการเปรียบเทียบ ใช้เช็คว่าค่าสองค่า "จริง (true)" </a:t>
            </a:r>
            <a:r>
              <a:rPr lang="en-US" sz="1250" dirty="0" err="1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หรือ</a:t>
            </a: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th-TH" sz="1250" dirty="0">
              <a:solidFill>
                <a:srgbClr val="C7CCD9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"เท็จ (false)"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85292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70662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==  เท่ากับ      !=  ไม่เท่ากับ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419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2735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&gt;  มากกว่า        &lt;  น้อยกว่า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9867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8404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&gt;=  มากกว่าหรือเท่ากับ    &lt;=  น้อยกว่าหรือเท่ากับ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5537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4074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ผลลัพธ์ที่ได้จะเป็น true หรือ false เสมอ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32120" y="1828800"/>
            <a:ext cx="6080760" cy="3383280"/>
          </a:xfrm>
          <a:prstGeom prst="roundRect">
            <a:avLst>
              <a:gd name="adj" fmla="val 2162"/>
            </a:avLst>
          </a:prstGeom>
          <a:solidFill>
            <a:srgbClr val="0D1117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146304" cy="146304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9320" y="201168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2011680"/>
            <a:ext cx="146304" cy="146304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6112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2377440"/>
            <a:ext cx="55778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75;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console.log(score &gt; 50);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console.log(score == 100);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console.log(score &gt;= 75);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64240" cy="694030"/>
          </a:xfrm>
          <a:prstGeom prst="roundRect">
            <a:avLst>
              <a:gd name="adj" fmla="val 7905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5577840"/>
            <a:ext cx="10735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 เคล็ดลับ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" y="5852160"/>
            <a:ext cx="10735056" cy="291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ลองเปลี่ยนค่า score เป็นเลขอื่น แล้วเดาก่อนว่าผลลัพธ์จะเป็น true หรือ false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วิธีรัน: บันทึกไฟล์ แล้วพิมพ์ node index.js ใน Terminal ของ VS Code (หรือกด ▶ ปุ่ม Code Runner)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IF ELSE (เงื่อนไข)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นาที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ขั้นตอนที่ 6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13969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if...else ใช้ตัดสินใจว่าจะให้โปรแกรมทำอะไร ขึ้นอยู่กับเงื่อนไข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85292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70662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ถ้าเงื่อนไขใน if เป็นจริง → ทำงานใน { } ของ if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419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2735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ถ้าเป็นเท็จ → ข้ามไปทำงานใน { } ของ else แทน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9867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8404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สามารถใช้ else if เพิ่มได้หลายเงื่อนไขต่อกัน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32120" y="1828800"/>
            <a:ext cx="6080760" cy="3383280"/>
          </a:xfrm>
          <a:prstGeom prst="roundRect">
            <a:avLst>
              <a:gd name="adj" fmla="val 2162"/>
            </a:avLst>
          </a:prstGeom>
          <a:solidFill>
            <a:srgbClr val="0D1117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0720" y="2011680"/>
            <a:ext cx="146304" cy="146304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201168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146304" cy="146304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2377440"/>
            <a:ext cx="55778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75;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7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80)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console.log("เกรด A");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7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60)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console.log("เกรด B");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7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console.log("ต้องพยายามอีกนิด");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7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64240" cy="694030"/>
          </a:xfrm>
          <a:prstGeom prst="roundRect">
            <a:avLst>
              <a:gd name="adj" fmla="val 7905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5577840"/>
            <a:ext cx="10735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 เคล็ดลับ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5852160"/>
            <a:ext cx="10735056" cy="291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ลองปรับค่า score ให้ผ่านเงื่อนไขแต่ละแบบ เพื่อดูว่าเกรดที่ได้เปลี่ยนไปอย่างไร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วิธีรัน: บันทึกไฟล์ แล้วพิมพ์ node index.js ใน Terminal ของ VS Code (หรือกด ▶ ปุ่ม Code Runner)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Loop (For loop)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นาที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ขั้นตอนที่ 7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13969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 loop ใช้ทำงานซ้ำๆ โดยไม่ต้องเขียนโค้ดซ้ำหลายบรรทัด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85292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70662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รูปแบบ: for (เริ่มต้น; เงื่อนไข; เพิ่มค่า) { งานที่ทำซ้ำ 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419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27355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 เป็นตัวแปรนับรอบ เริ่มจาก 0 แล้วเพิ่มทีละ 1 (i++)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9867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8404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loop จะทำงานซ้ำจนกว่าเงื่อนไขจะเป็นเท็จ แล้วจึงหยุด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32120" y="1828800"/>
            <a:ext cx="6080760" cy="3383280"/>
          </a:xfrm>
          <a:prstGeom prst="roundRect">
            <a:avLst>
              <a:gd name="adj" fmla="val 2162"/>
            </a:avLst>
          </a:prstGeom>
          <a:solidFill>
            <a:srgbClr val="0D1117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0720" y="2011680"/>
            <a:ext cx="146304" cy="146304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201168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146304" cy="146304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2377440"/>
            <a:ext cx="55778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7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5; i++)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console.log("รอบที่ " + i);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7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ผลลัพธ์: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รอบที่ 1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รอบที่ 2 ... รอบที่ 5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64240" cy="694030"/>
          </a:xfrm>
          <a:prstGeom prst="roundRect">
            <a:avLst>
              <a:gd name="adj" fmla="val 7905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5577840"/>
            <a:ext cx="10735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 เคล็ดลับ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5852160"/>
            <a:ext cx="10735056" cy="291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ลองเปลี่ยนเลข 5 เป็นเลขอื่น แล้วสังเกตว่าโปรแกรมพิมพ์กี่รอบ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วิธีรัน: บันทึกไฟล์ แล้วพิมพ์ node index.js ใน Terminal ของ VS Code (หรือกด ▶ ปุ่ม Code Runner)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แบบทดสอบ: เขียนโปรแกรมคำนวณเกรด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04120" y="36576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นาที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ขั้นตอนที่ 8 / 8 — แบบทดสอบสรุปท้ายบท: รวม Variable + Comparison + IF ELSE + Loop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875081"/>
          </a:xfrm>
          <a:prstGeom prst="roundRect">
            <a:avLst>
              <a:gd name="adj" fmla="val 6270"/>
            </a:avLst>
          </a:prstGeom>
          <a:solidFill>
            <a:srgbClr val="2A2013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783080"/>
            <a:ext cx="10735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📋  คำสั่ง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057400"/>
            <a:ext cx="10735056" cy="472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ให้นักศึกษาเขียนโปรแกรมด้วย Node.js </a:t>
            </a:r>
            <a:r>
              <a:rPr lang="en-US" sz="1100" dirty="0" err="1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ตามโจทย์ต่อไปนี้ด้วยตนเอง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03881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23921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23921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768" dirty="0"/>
          </a:p>
        </p:txBody>
      </p:sp>
      <p:sp>
        <p:nvSpPr>
          <p:cNvPr id="13" name="Text 11"/>
          <p:cNvSpPr/>
          <p:nvPr/>
        </p:nvSpPr>
        <p:spPr>
          <a:xfrm>
            <a:off x="1005840" y="2987345"/>
            <a:ext cx="466344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กำหนดตัวแปร scores เก็บคะแนนสอบของนักศึกษา 5 </a:t>
            </a:r>
            <a:r>
              <a:rPr lang="en-US" sz="1200" dirty="0" err="1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</a:t>
            </a:r>
            <a:r>
              <a:rPr lang="en-US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br>
              <a:rPr lang="th-TH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en-US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(ตัวเลขเต็ม 0-100)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21329"/>
            <a:ext cx="292608" cy="292608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621329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768" dirty="0"/>
          </a:p>
        </p:txBody>
      </p:sp>
      <p:sp>
        <p:nvSpPr>
          <p:cNvPr id="16" name="Text 14"/>
          <p:cNvSpPr/>
          <p:nvPr/>
        </p:nvSpPr>
        <p:spPr>
          <a:xfrm>
            <a:off x="1005840" y="3584753"/>
            <a:ext cx="466344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ใช้คำสั่งวนซ้ำ (Loop) เพื่ออ่านคะแนนทีละคน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18737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218737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768" dirty="0"/>
          </a:p>
        </p:txBody>
      </p:sp>
      <p:sp>
        <p:nvSpPr>
          <p:cNvPr id="19" name="Text 17"/>
          <p:cNvSpPr/>
          <p:nvPr/>
        </p:nvSpPr>
        <p:spPr>
          <a:xfrm>
            <a:off x="1005840" y="4182161"/>
            <a:ext cx="466344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ใช้เงื่อนไข (if...else) ตัดสินเกรดตามเกณฑ์ที่กำหนด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16145"/>
            <a:ext cx="292608" cy="292608"/>
          </a:xfrm>
          <a:prstGeom prst="ellipse">
            <a:avLst/>
          </a:prstGeom>
          <a:solidFill>
            <a:srgbClr val="2FB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816145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0B0E1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768" dirty="0"/>
          </a:p>
        </p:txBody>
      </p:sp>
      <p:sp>
        <p:nvSpPr>
          <p:cNvPr id="22" name="Text 20"/>
          <p:cNvSpPr/>
          <p:nvPr/>
        </p:nvSpPr>
        <p:spPr>
          <a:xfrm>
            <a:off x="1005840" y="4779569"/>
            <a:ext cx="4663440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แสดงผลลัพธ์ทางหน้าจอในรูปแบบ "คะแนน -&gt; เกรด" ให้ครบทุกคน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2703881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เกณฑ์การตัดเกรด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32120" y="3023921"/>
            <a:ext cx="6080760" cy="1188720"/>
          </a:xfrm>
          <a:prstGeom prst="roundRect">
            <a:avLst>
              <a:gd name="adj" fmla="val 6154"/>
            </a:avLst>
          </a:prstGeom>
          <a:solidFill>
            <a:srgbClr val="141924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06440" y="3170225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คะแนน &gt;= 80  →  เกรด 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06440" y="3499409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&lt;= คะแนน &lt; 80  →  เกรด B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06440" y="3828593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C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คะแนน &lt; 60  →  ต้องพัฒนาเพิ่มเติม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532120" y="4340657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ตัวอย่างผลลัพธ์ที่คาดหวัง (Input/Output)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532120" y="4614976"/>
            <a:ext cx="6080760" cy="1657731"/>
          </a:xfrm>
          <a:prstGeom prst="roundRect">
            <a:avLst>
              <a:gd name="adj" fmla="val 5926"/>
            </a:avLst>
          </a:prstGeom>
          <a:solidFill>
            <a:srgbClr val="0D1117"/>
          </a:solidFill>
          <a:ln w="12700">
            <a:solidFill>
              <a:srgbClr val="262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60720" y="4706417"/>
            <a:ext cx="562356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2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[95, 82, 67, 55, 40]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6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95 -&gt; เกรด A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82 -&gt; เกรด A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67 -&gt; เกรด B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2239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B93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ส่งงาน: บันทึกไฟล์ชื่อ grade.js แล้วส่งผ่านช่องทางที่กำหนด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F5692-2EB7-B06F-BA05-D2E2E3B79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1B9C69-BAD2-02E3-FB24-7D9709CC2BED}"/>
              </a:ext>
            </a:extLst>
          </p:cNvPr>
          <p:cNvSpPr/>
          <p:nvPr/>
        </p:nvSpPr>
        <p:spPr>
          <a:xfrm>
            <a:off x="822960" y="1965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2428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020EA6-AD44-2BDC-6D5F-2E59FC3C68F9}"/>
              </a:ext>
            </a:extLst>
          </p:cNvPr>
          <p:cNvSpPr/>
          <p:nvPr/>
        </p:nvSpPr>
        <p:spPr>
          <a:xfrm>
            <a:off x="822960" y="13716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087FA2-4C05-2A4A-F6F9-B60C4C080E15}"/>
              </a:ext>
            </a:extLst>
          </p:cNvPr>
          <p:cNvSpPr/>
          <p:nvPr/>
        </p:nvSpPr>
        <p:spPr>
          <a:xfrm>
            <a:off x="822960" y="1371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13:30 – 18:00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A2F884-35F1-F0EA-0100-BDDB1A8E60E6}"/>
              </a:ext>
            </a:extLst>
          </p:cNvPr>
          <p:cNvSpPr/>
          <p:nvPr/>
        </p:nvSpPr>
        <p:spPr>
          <a:xfrm>
            <a:off x="822960" y="32004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Workshop Catch me if you can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41142F-9504-2F9D-BEC1-9E1A7BEBA254}"/>
              </a:ext>
            </a:extLst>
          </p:cNvPr>
          <p:cNvSpPr/>
          <p:nvPr/>
        </p:nvSpPr>
        <p:spPr>
          <a:xfrm>
            <a:off x="822960" y="42062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Let combined all we know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2426637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Tahoma"/>
              </a:rPr>
              <a:t>จัดกลุ่มและบทบาทในทีม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5 นาที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26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898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3A7"/>
                </a:solidFill>
                <a:latin typeface="Courier New"/>
              </a:rPr>
              <a:t>ขั้นตอนที่ 1 / 3 — แบ่งทีมและมอบหมายหน้าที่ก่อนเริ่มเกม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640080"/>
          </a:xfrm>
          <a:prstGeom prst="roundRect">
            <a:avLst>
              <a:gd name="adj" fmla="val 14000"/>
            </a:avLst>
          </a:prstGeom>
          <a:solidFill>
            <a:srgbClr val="2A2013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1250" b="0" i="0">
                <a:solidFill>
                  <a:srgbClr val="C7CCD9"/>
                </a:solidFill>
                <a:latin typeface="Tahoma"/>
              </a:rPr>
              <a:t>📋  จัดกลุ่ม — แบ่งผู้เข้าร่วมออกเป็นกลุ่ม กลุ่มละ X คน แล้วกระจายบทบาทตามด้านล่างนี้ภายในแต่ละกลุ่ม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892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ahoma"/>
              </a:rPr>
              <a:t>บทบาทในกลุ่ม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0" y="2540000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2FB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24028" y="24892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8B93A7"/>
                </a:solidFill>
                <a:latin typeface="Tahoma"/>
              </a:rPr>
              <a:t>คงที่ (1 คน)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58468" y="2540000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82496" y="2489200"/>
            <a:ext cx="18516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8B93A7"/>
                </a:solidFill>
                <a:latin typeface="Tahoma"/>
              </a:rPr>
              <a:t>ปรับตามขนาดกลุ่ม (x คน)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70000"/>
            <a:ext cx="5394960" cy="480060"/>
          </a:xfrm>
          <a:prstGeom prst="roundRect">
            <a:avLst>
              <a:gd name="adj" fmla="val 1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Ins="21945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หัวหน้ากลุ่ม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95001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2FB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1 คน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41500"/>
            <a:ext cx="5394960" cy="480060"/>
          </a:xfrm>
          <a:prstGeom prst="roundRect">
            <a:avLst>
              <a:gd name="adj" fmla="val 1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Ins="21945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รองหัวหน้ากลุ่ม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52151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2FB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1 คน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13000"/>
            <a:ext cx="5394960" cy="480060"/>
          </a:xfrm>
          <a:prstGeom prst="roundRect">
            <a:avLst>
              <a:gd name="adj" fmla="val 1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Ins="21945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นักเขียนโปรแกรม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409301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x คน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84500"/>
            <a:ext cx="5394960" cy="480060"/>
          </a:xfrm>
          <a:prstGeom prst="roundRect">
            <a:avLst>
              <a:gd name="adj" fmla="val 1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Ins="21945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นักออกแบบดีไซน์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66451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x คน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56000"/>
            <a:ext cx="5394960" cy="480060"/>
          </a:xfrm>
          <a:prstGeom prst="roundRect">
            <a:avLst>
              <a:gd name="adj" fmla="val 1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Ins="21945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นักทำเอกสาร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523601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x คน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70000"/>
            <a:ext cx="5394960" cy="480060"/>
          </a:xfrm>
          <a:prstGeom prst="roundRect">
            <a:avLst>
              <a:gd name="adj" fmla="val 1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Ins="21945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นักทดสอบระบบ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89920" y="295001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x คน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41500"/>
            <a:ext cx="5394960" cy="480060"/>
          </a:xfrm>
          <a:prstGeom prst="roundRect">
            <a:avLst>
              <a:gd name="adj" fmla="val 1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Ins="21945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นัก Present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89920" y="352151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2FB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1 คน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013000"/>
            <a:ext cx="5394960" cy="480060"/>
          </a:xfrm>
          <a:prstGeom prst="roundRect">
            <a:avLst>
              <a:gd name="adj" fmla="val 1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Ins="21945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นักประสานงาน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89920" y="409301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2FB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1 คน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584500"/>
            <a:ext cx="5394960" cy="480060"/>
          </a:xfrm>
          <a:prstGeom prst="roundRect">
            <a:avLst>
              <a:gd name="adj" fmla="val 1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Ins="21945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ฝ่ายบุคคล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89920" y="466451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2FB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1 คน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156000"/>
            <a:ext cx="5394960" cy="480060"/>
          </a:xfrm>
          <a:prstGeom prst="roundRect">
            <a:avLst>
              <a:gd name="adj" fmla="val 1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rIns="21945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ฝ่ายบัญชี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89920" y="523601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x คน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8B93A7"/>
                </a:solidFill>
                <a:latin typeface="Courier New"/>
              </a:rPr>
              <a:t>18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Tahoma"/>
              </a:rPr>
              <a:t>สิ่งที่ต้องส่งมอบ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Deliverables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26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898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3A7"/>
                </a:solidFill>
                <a:latin typeface="Courier New"/>
              </a:rPr>
              <a:t>ขั้นตอนที่ 2 / 3 — รายละเอียดงานที่ทุกกลุ่มต้องส่งมอบเมื่อจบเกม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9760"/>
            <a:ext cx="3505200" cy="1737360"/>
          </a:xfrm>
          <a:prstGeom prst="roundRect">
            <a:avLst>
              <a:gd name="adj" fmla="val 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t"/>
          <a:lstStyle/>
          <a:p>
            <a:pPr algn="ctr"/>
            <a:r>
              <a:rPr sz="2600" b="0" i="0">
                <a:solidFill>
                  <a:srgbClr val="FFFFFF"/>
                </a:solidFill>
                <a:latin typeface="Tahoma"/>
              </a:rPr>
              <a:t>📄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FFFFFF"/>
                </a:solidFill>
                <a:latin typeface="Tahoma"/>
              </a:rPr>
              <a:t>Project Proposal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8B93A7"/>
                </a:solidFill>
                <a:latin typeface="Tahoma"/>
              </a:rPr>
              <a:t>เอกสารเสนอโครงการ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8160" y="1889760"/>
            <a:ext cx="3505200" cy="1737360"/>
          </a:xfrm>
          <a:prstGeom prst="roundRect">
            <a:avLst>
              <a:gd name="adj" fmla="val 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t"/>
          <a:lstStyle/>
          <a:p>
            <a:pPr algn="ctr"/>
            <a:r>
              <a:rPr sz="2600" b="0" i="0">
                <a:solidFill>
                  <a:srgbClr val="FFFFFF"/>
                </a:solidFill>
                <a:latin typeface="Tahoma"/>
              </a:rPr>
              <a:t>💻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FFFFFF"/>
                </a:solidFill>
                <a:latin typeface="Tahoma"/>
              </a:rPr>
              <a:t>Program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8B93A7"/>
                </a:solidFill>
                <a:latin typeface="Tahoma"/>
              </a:rPr>
              <a:t>ตัวโปรแกรมที่พัฒนาจริง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680" y="1889760"/>
            <a:ext cx="3505200" cy="1737360"/>
          </a:xfrm>
          <a:prstGeom prst="roundRect">
            <a:avLst>
              <a:gd name="adj" fmla="val 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t"/>
          <a:lstStyle/>
          <a:p>
            <a:pPr algn="ctr"/>
            <a:r>
              <a:rPr sz="2600" b="0" i="0">
                <a:solidFill>
                  <a:srgbClr val="FFFFFF"/>
                </a:solidFill>
                <a:latin typeface="Tahoma"/>
              </a:rPr>
              <a:t>🖥️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FFFFFF"/>
                </a:solidFill>
                <a:latin typeface="Tahoma"/>
              </a:rPr>
              <a:t>Prototype System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8B93A7"/>
                </a:solidFill>
                <a:latin typeface="Tahoma"/>
              </a:rPr>
              <a:t>ระบบต้นแบบที่ใช้งานได้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01440"/>
            <a:ext cx="3505200" cy="1737360"/>
          </a:xfrm>
          <a:prstGeom prst="roundRect">
            <a:avLst>
              <a:gd name="adj" fmla="val 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t"/>
          <a:lstStyle/>
          <a:p>
            <a:pPr algn="ctr"/>
            <a:r>
              <a:rPr sz="2600" b="0" i="0">
                <a:solidFill>
                  <a:srgbClr val="FFFFFF"/>
                </a:solidFill>
                <a:latin typeface="Tahoma"/>
              </a:rPr>
              <a:t>🎤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FFFFFF"/>
                </a:solidFill>
                <a:latin typeface="Tahoma"/>
              </a:rPr>
              <a:t>Presentation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8B93A7"/>
                </a:solidFill>
                <a:latin typeface="Tahoma"/>
              </a:rPr>
              <a:t>การนำเสนอผลงานหน้าห้อง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3901440"/>
            <a:ext cx="3505200" cy="1737360"/>
          </a:xfrm>
          <a:prstGeom prst="roundRect">
            <a:avLst>
              <a:gd name="adj" fmla="val 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t"/>
          <a:lstStyle/>
          <a:p>
            <a:pPr algn="ctr"/>
            <a:r>
              <a:rPr sz="2600" b="0" i="0">
                <a:solidFill>
                  <a:srgbClr val="FFFFFF"/>
                </a:solidFill>
                <a:latin typeface="Tahoma"/>
              </a:rPr>
              <a:t>💰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FFFFFF"/>
                </a:solidFill>
                <a:latin typeface="Tahoma"/>
              </a:rPr>
              <a:t>Cost and Budget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8B93A7"/>
                </a:solidFill>
                <a:latin typeface="Tahoma"/>
              </a:rPr>
              <a:t>สรุปต้นทุนและงบประมาณ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680" y="3901440"/>
            <a:ext cx="3505200" cy="1737360"/>
          </a:xfrm>
          <a:prstGeom prst="roundRect">
            <a:avLst>
              <a:gd name="adj" fmla="val 8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t"/>
          <a:lstStyle/>
          <a:p>
            <a:pPr algn="ctr"/>
            <a:r>
              <a:rPr sz="2600" b="0" i="0">
                <a:solidFill>
                  <a:srgbClr val="FFFFFF"/>
                </a:solidFill>
                <a:latin typeface="Tahoma"/>
              </a:rPr>
              <a:t>👥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FFFFFF"/>
                </a:solidFill>
                <a:latin typeface="Tahoma"/>
              </a:rPr>
              <a:t>Team Member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8B93A7"/>
                </a:solidFill>
                <a:latin typeface="Tahoma"/>
              </a:rPr>
              <a:t>รายชื่อสมาชิกในทีม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8B93A7"/>
                </a:solidFill>
                <a:latin typeface="Courier New"/>
              </a:rPr>
              <a:t>19</a:t>
            </a: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Tahoma"/>
              </a:rPr>
              <a:t>กติกาบทบาท: Role &amp; Rule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ตาราง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26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898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3A7"/>
                </a:solidFill>
                <a:latin typeface="Courier New"/>
              </a:rPr>
              <a:t>ขั้นตอนที่ 3 / 3 (1 / 2) — สิทธิ์การทำงานของแต่ละตำแหน่งในเกม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431832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612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เกรด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Position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ค่าตัว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พบลูกค้า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เสนอราคา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ซื้อขาย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สมาชิก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ติดต่อ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ธ.กลาง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นำเสนอ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ผลงาน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ติดต่อ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Consult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ติดต่อ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HR กลาง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ขอย้าย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00" b="1" i="0">
                          <a:solidFill>
                            <a:srgbClr val="0B0E14"/>
                          </a:solidFill>
                          <a:latin typeface="Tahoma"/>
                        </a:rPr>
                        <a:t>กลุ่ม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FFD14C"/>
                          </a:solidFill>
                          <a:latin typeface="Courier New"/>
                        </a:rPr>
                        <a:t>SSS</a:t>
                      </a:r>
                    </a:p>
                  </a:txBody>
                  <a:tcPr marL="45720" marR="45720" marT="22860" marB="22860" anchor="ctr">
                    <a:solidFill>
                      <a:srgbClr val="3A240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ahoma"/>
                        </a:rPr>
                        <a:t>หัวหน้ากลุ่ม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8A33D"/>
                          </a:solidFill>
                          <a:latin typeface="Courier New"/>
                        </a:rPr>
                        <a:t>3500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E07BFF"/>
                          </a:solidFill>
                          <a:latin typeface="Courier New"/>
                        </a:rPr>
                        <a:t>SS</a:t>
                      </a:r>
                    </a:p>
                  </a:txBody>
                  <a:tcPr marL="45720" marR="45720" marT="22860" marB="22860" anchor="ctr">
                    <a:solidFill>
                      <a:srgbClr val="2A14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ahoma"/>
                        </a:rPr>
                        <a:t>รองหัวหน้ากลุ่ม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8A33D"/>
                          </a:solidFill>
                          <a:latin typeface="Courier New"/>
                        </a:rPr>
                        <a:t>3000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4ADE80"/>
                          </a:solidFill>
                          <a:latin typeface="Courier New"/>
                        </a:rPr>
                        <a:t>B</a:t>
                      </a:r>
                    </a:p>
                  </a:txBody>
                  <a:tcPr marL="45720" marR="45720" marT="22860" marB="22860" anchor="ctr">
                    <a:solidFill>
                      <a:srgbClr val="0F2B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ahoma"/>
                        </a:rPr>
                        <a:t>นักเขียนโปรแกรม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8A33D"/>
                          </a:solidFill>
                          <a:latin typeface="Courier New"/>
                        </a:rPr>
                        <a:t>1000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9AA3B2"/>
                          </a:solidFill>
                          <a:latin typeface="Courier New"/>
                        </a:rPr>
                        <a:t>C</a:t>
                      </a:r>
                    </a:p>
                  </a:txBody>
                  <a:tcPr marL="45720" marR="45720" marT="22860" marB="22860" anchor="ctr">
                    <a:solidFill>
                      <a:srgbClr val="1C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ahoma"/>
                        </a:rPr>
                        <a:t>นักออกแบบดีไซน์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8A33D"/>
                          </a:solidFill>
                          <a:latin typeface="Courier New"/>
                        </a:rPr>
                        <a:t>500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5AB9FF"/>
                          </a:solidFill>
                          <a:latin typeface="Courier New"/>
                        </a:rPr>
                        <a:t>A</a:t>
                      </a:r>
                    </a:p>
                  </a:txBody>
                  <a:tcPr marL="45720" marR="45720" marT="22860" marB="22860" anchor="ctr">
                    <a:solidFill>
                      <a:srgbClr val="0E22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ahoma"/>
                        </a:rPr>
                        <a:t>นักทำเอกสาร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8A33D"/>
                          </a:solidFill>
                          <a:latin typeface="Courier New"/>
                        </a:rPr>
                        <a:t>1500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9AA3B2"/>
                          </a:solidFill>
                          <a:latin typeface="Courier New"/>
                        </a:rPr>
                        <a:t>C</a:t>
                      </a:r>
                    </a:p>
                  </a:txBody>
                  <a:tcPr marL="45720" marR="45720" marT="22860" marB="22860" anchor="ctr">
                    <a:solidFill>
                      <a:srgbClr val="1C22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ahoma"/>
                        </a:rPr>
                        <a:t>นักทดสอบระบบ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8A33D"/>
                          </a:solidFill>
                          <a:latin typeface="Courier New"/>
                        </a:rPr>
                        <a:t>500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5AB9FF"/>
                          </a:solidFill>
                          <a:latin typeface="Courier New"/>
                        </a:rPr>
                        <a:t>A</a:t>
                      </a:r>
                    </a:p>
                  </a:txBody>
                  <a:tcPr marL="45720" marR="45720" marT="22860" marB="22860" anchor="ctr">
                    <a:solidFill>
                      <a:srgbClr val="0E22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ahoma"/>
                        </a:rPr>
                        <a:t>นัก Present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8A33D"/>
                          </a:solidFill>
                          <a:latin typeface="Courier New"/>
                        </a:rPr>
                        <a:t>1500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4ADE80"/>
                          </a:solidFill>
                          <a:latin typeface="Courier New"/>
                        </a:rPr>
                        <a:t>B</a:t>
                      </a:r>
                    </a:p>
                  </a:txBody>
                  <a:tcPr marL="45720" marR="45720" marT="22860" marB="22860" anchor="ctr">
                    <a:solidFill>
                      <a:srgbClr val="0F2B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ahoma"/>
                        </a:rPr>
                        <a:t>นักประสานงาน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8A33D"/>
                          </a:solidFill>
                          <a:latin typeface="Courier New"/>
                        </a:rPr>
                        <a:t>1000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4ADE80"/>
                          </a:solidFill>
                          <a:latin typeface="Courier New"/>
                        </a:rPr>
                        <a:t>B</a:t>
                      </a:r>
                    </a:p>
                  </a:txBody>
                  <a:tcPr marL="45720" marR="45720" marT="22860" marB="22860" anchor="ctr">
                    <a:solidFill>
                      <a:srgbClr val="0F2B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ahoma"/>
                        </a:rPr>
                        <a:t>ฝ่ายบุคคล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8A33D"/>
                          </a:solidFill>
                          <a:latin typeface="Courier New"/>
                        </a:rPr>
                        <a:t>1000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22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4ADE80"/>
                          </a:solidFill>
                          <a:latin typeface="Courier New"/>
                        </a:rPr>
                        <a:t>B</a:t>
                      </a:r>
                    </a:p>
                  </a:txBody>
                  <a:tcPr marL="45720" marR="45720" marT="22860" marB="22860" anchor="ctr">
                    <a:solidFill>
                      <a:srgbClr val="0F2B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ahoma"/>
                        </a:rPr>
                        <a:t>ฝ่ายบัญชี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E8A33D"/>
                          </a:solidFill>
                          <a:latin typeface="Courier New"/>
                        </a:rPr>
                        <a:t>1000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E05252"/>
                          </a:solidFill>
                          <a:latin typeface="Courier New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2FB88F"/>
                          </a:solidFill>
                          <a:latin typeface="Courier New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47120"/>
            <a:ext cx="1106424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 b="0" i="0">
                <a:solidFill>
                  <a:srgbClr val="8B93A7"/>
                </a:solidFill>
                <a:latin typeface="Tahoma"/>
              </a:rPr>
              <a:t>เกรดตามค่าตัว:  </a:t>
            </a:r>
            <a:r>
              <a:rPr sz="1000" b="1" i="0">
                <a:solidFill>
                  <a:srgbClr val="FFD14C"/>
                </a:solidFill>
                <a:latin typeface="Courier New"/>
              </a:rPr>
              <a:t>SSS (≥3500)</a:t>
            </a:r>
            <a:r>
              <a:rPr sz="1000" b="0" i="0">
                <a:solidFill>
                  <a:srgbClr val="8B93A7"/>
                </a:solidFill>
                <a:latin typeface="Tahoma"/>
              </a:rPr>
              <a:t>   •   </a:t>
            </a:r>
            <a:r>
              <a:rPr sz="1000" b="1" i="0">
                <a:solidFill>
                  <a:srgbClr val="E07BFF"/>
                </a:solidFill>
                <a:latin typeface="Courier New"/>
              </a:rPr>
              <a:t>SS (3000)</a:t>
            </a:r>
            <a:r>
              <a:rPr sz="1000" b="0" i="0">
                <a:solidFill>
                  <a:srgbClr val="8B93A7"/>
                </a:solidFill>
                <a:latin typeface="Tahoma"/>
              </a:rPr>
              <a:t>   •   </a:t>
            </a:r>
            <a:r>
              <a:rPr sz="1000" b="1" i="0">
                <a:solidFill>
                  <a:srgbClr val="5AB9FF"/>
                </a:solidFill>
                <a:latin typeface="Courier New"/>
              </a:rPr>
              <a:t>A (1500)</a:t>
            </a:r>
            <a:r>
              <a:rPr sz="1000" b="0" i="0">
                <a:solidFill>
                  <a:srgbClr val="8B93A7"/>
                </a:solidFill>
                <a:latin typeface="Tahoma"/>
              </a:rPr>
              <a:t>   •   </a:t>
            </a:r>
            <a:r>
              <a:rPr sz="1000" b="1" i="0">
                <a:solidFill>
                  <a:srgbClr val="4ADE80"/>
                </a:solidFill>
                <a:latin typeface="Courier New"/>
              </a:rPr>
              <a:t>B (1000)</a:t>
            </a:r>
            <a:r>
              <a:rPr sz="1000" b="0" i="0">
                <a:solidFill>
                  <a:srgbClr val="8B93A7"/>
                </a:solidFill>
                <a:latin typeface="Tahoma"/>
              </a:rPr>
              <a:t>   •   </a:t>
            </a:r>
            <a:r>
              <a:rPr sz="1000" b="1" i="0">
                <a:solidFill>
                  <a:srgbClr val="9AA3B2"/>
                </a:solidFill>
                <a:latin typeface="Courier New"/>
              </a:rPr>
              <a:t>C (500)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8B93A7"/>
                </a:solidFill>
                <a:latin typeface="Courier New"/>
              </a:rPr>
              <a:t>20</a:t>
            </a: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Tahoma"/>
              </a:rPr>
              <a:t>กติกาธนาคาร: Rule of Bank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04120" y="36576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 i="0">
                <a:solidFill>
                  <a:srgbClr val="0B0E14"/>
                </a:solidFill>
                <a:latin typeface="Courier New"/>
              </a:rPr>
              <a:t>Bank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98448"/>
            <a:ext cx="11064240" cy="0"/>
          </a:xfrm>
          <a:prstGeom prst="line">
            <a:avLst/>
          </a:prstGeom>
          <a:ln w="12700">
            <a:solidFill>
              <a:srgbClr val="26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898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93A7"/>
                </a:solidFill>
                <a:latin typeface="Courier New"/>
              </a:rPr>
              <a:t>ขั้นตอนที่ 3 / 3 (2 / 2) — เงื่อนไขการยืมและคืนเงินระหว่างเกม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05200" cy="1554480"/>
          </a:xfrm>
          <a:prstGeom prst="roundRect">
            <a:avLst>
              <a:gd name="adj" fmla="val 10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t"/>
          <a:lstStyle/>
          <a:p>
            <a:pPr algn="ctr"/>
            <a:r>
              <a:rPr sz="2400" b="0" i="0">
                <a:solidFill>
                  <a:srgbClr val="FFFFFF"/>
                </a:solidFill>
                <a:latin typeface="Tahoma"/>
              </a:rPr>
              <a:t>💸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FFFFFF"/>
                </a:solidFill>
                <a:latin typeface="Tahoma"/>
              </a:rPr>
              <a:t>ยื่นกู้ 1 ครั้ง ใช้เวลา 20 นาที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8B93A7"/>
                </a:solidFill>
                <a:latin typeface="Tahoma"/>
              </a:rPr>
              <a:t>ก่อนธนาคารโอนเงินให้กลุ่มที่ยื่นกู้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8160" y="1691640"/>
            <a:ext cx="3505200" cy="1554480"/>
          </a:xfrm>
          <a:prstGeom prst="roundRect">
            <a:avLst>
              <a:gd name="adj" fmla="val 10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t"/>
          <a:lstStyle/>
          <a:p>
            <a:pPr algn="ctr"/>
            <a:r>
              <a:rPr sz="2400" b="0" i="0">
                <a:solidFill>
                  <a:srgbClr val="FFFFFF"/>
                </a:solidFill>
                <a:latin typeface="Tahoma"/>
              </a:rPr>
              <a:t>📈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FFFFFF"/>
                </a:solidFill>
                <a:latin typeface="Tahoma"/>
              </a:rPr>
              <a:t>ยืมได้ครั้งละ 5,000 บาท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8B93A7"/>
                </a:solidFill>
                <a:latin typeface="Tahoma"/>
              </a:rPr>
              <a:t>คิดดอกเบี้ย 2.5% ต่อการยืม 1 ครั้ง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680" y="1691640"/>
            <a:ext cx="3505200" cy="1554480"/>
          </a:xfrm>
          <a:prstGeom prst="roundRect">
            <a:avLst>
              <a:gd name="adj" fmla="val 10000"/>
            </a:avLst>
          </a:prstGeom>
          <a:solidFill>
            <a:srgbClr val="141924"/>
          </a:solidFill>
          <a:ln w="12700">
            <a:solidFill>
              <a:srgbClr val="26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t"/>
          <a:lstStyle/>
          <a:p>
            <a:pPr algn="ctr"/>
            <a:r>
              <a:rPr sz="2400" b="0" i="0">
                <a:solidFill>
                  <a:srgbClr val="FFFFFF"/>
                </a:solidFill>
                <a:latin typeface="Tahoma"/>
              </a:rPr>
              <a:t>⏳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FFFFFF"/>
                </a:solidFill>
                <a:latin typeface="Tahoma"/>
              </a:rPr>
              <a:t>คืนเงินภายใน 25 นาที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8B93A7"/>
                </a:solidFill>
                <a:latin typeface="Tahoma"/>
              </a:rPr>
              <a:t>หลังได้รับเงิน ต้องคืนเงินต้น + ดอกเบี้ย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ahoma"/>
              </a:rPr>
              <a:t>ตัวอย่าง (Example)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794760"/>
          <a:ext cx="11064240" cy="950000"/>
        </p:xfrm>
        <a:graphic>
          <a:graphicData uri="http://schemas.openxmlformats.org/drawingml/2006/table">
            <a:tbl>
              <a:tblPr/>
              <a:tblGrid>
                <a:gridCol w="138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กลุ่ม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จำนวนเงิน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ขอยืม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เวลายืม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ระยะเวลา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จ่าย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ธนาคารจ่าย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เวลา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ระยะเวลา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เรียกคืน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ธนาคารเรียก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คืนเวลา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จำนวนเงิน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0B0E14"/>
                          </a:solidFill>
                          <a:latin typeface="Tahoma"/>
                        </a:rPr>
                        <a:t>คืน</a:t>
                      </a:r>
                    </a:p>
                  </a:txBody>
                  <a:tcPr marL="45720" marR="45720" marT="22860" marB="22860" anchor="ctr">
                    <a:solidFill>
                      <a:srgbClr val="E8A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6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0" i="0">
                          <a:solidFill>
                            <a:srgbClr val="FFFFFF"/>
                          </a:solidFill>
                          <a:latin typeface="Courier New"/>
                        </a:rPr>
                        <a:t>X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0" i="0">
                          <a:solidFill>
                            <a:srgbClr val="C7CCD9"/>
                          </a:solidFill>
                          <a:latin typeface="Courier New"/>
                        </a:rPr>
                        <a:t>5,000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0" i="0">
                          <a:solidFill>
                            <a:srgbClr val="C7CCD9"/>
                          </a:solidFill>
                          <a:latin typeface="Courier New"/>
                        </a:rPr>
                        <a:t>14:00:00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0" i="0">
                          <a:solidFill>
                            <a:srgbClr val="C7CCD9"/>
                          </a:solidFill>
                          <a:latin typeface="Courier New"/>
                        </a:rPr>
                        <a:t>20 นาที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F2C078"/>
                          </a:solidFill>
                          <a:latin typeface="Courier New"/>
                        </a:rPr>
                        <a:t>14:20:00</a:t>
                      </a:r>
                    </a:p>
                  </a:txBody>
                  <a:tcPr marL="45720" marR="45720" marT="22860" marB="22860" anchor="ctr">
                    <a:solidFill>
                      <a:srgbClr val="2A201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0" i="0">
                          <a:solidFill>
                            <a:srgbClr val="C7CCD9"/>
                          </a:solidFill>
                          <a:latin typeface="Courier New"/>
                        </a:rPr>
                        <a:t>25 นาที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2FB88F"/>
                          </a:solidFill>
                          <a:latin typeface="Courier New"/>
                        </a:rPr>
                        <a:t>14:45:00</a:t>
                      </a:r>
                    </a:p>
                  </a:txBody>
                  <a:tcPr marL="45720" marR="45720" marT="22860" marB="22860" anchor="ctr">
                    <a:solidFill>
                      <a:srgbClr val="0F24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C7CCD9"/>
                          </a:solidFill>
                          <a:latin typeface="Courier New"/>
                        </a:rPr>
                        <a:t>5,125</a:t>
                      </a:r>
                    </a:p>
                  </a:txBody>
                  <a:tcPr marL="45720" marR="45720" marT="22860" marB="22860" anchor="ctr">
                    <a:solidFill>
                      <a:srgbClr val="1419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9276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B93A7"/>
                </a:solidFill>
                <a:latin typeface="Tahoma"/>
              </a:rPr>
              <a:t>* 5,000 บาท + ดอกเบี้ย 2.5% (125 บาท) = คืนเงินทั้งหมด 5,125 บาท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5752" y="6492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8B93A7"/>
                </a:solidFill>
                <a:latin typeface="Courier New"/>
              </a:rPr>
              <a:t>21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2867</Words>
  <Application>Microsoft Office PowerPoint</Application>
  <PresentationFormat>Widescreen</PresentationFormat>
  <Paragraphs>576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Courier New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Tabuang Jandam (TMA)</cp:lastModifiedBy>
  <cp:revision>27</cp:revision>
  <dcterms:created xsi:type="dcterms:W3CDTF">2026-08-02T14:20:03Z</dcterms:created>
  <dcterms:modified xsi:type="dcterms:W3CDTF">2026-08-02T19:53:56Z</dcterms:modified>
</cp:coreProperties>
</file>